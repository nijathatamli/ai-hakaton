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14c1d51-4327-7669-4516-f957844ca755}">
          <p14:sldIdLst>
            <p14:sldId id="256"/>
          </p14:sldIdLst>
        </p14:section>
        <p14:section name="Value" id="{06454a06-cbe9-ef90-e594-92e63a340a90}">
          <p14:sldIdLst>
            <p14:sldId id="257"/>
          </p14:sldIdLst>
        </p14:section>
        <p14:section name="Product" id="{dd8948ab-d21d-04a7-7f9e-a326f7c5456f}">
          <p14:sldIdLst>
            <p14:sldId id="258"/>
            <p14:sldId id="259"/>
          </p14:sldIdLst>
        </p14:section>
        <p14:section name="AI" id="{64ac647a-3062-73be-f0d8-c2013a656a05}">
          <p14:sldIdLst>
            <p14:sldId id="260"/>
            <p14:sldId id="261"/>
          </p14:sldIdLst>
        </p14:section>
        <p14:section name="Testing" id="{14421411-43fe-c5b6-3090-573632070f27}">
          <p14:sldIdLst>
            <p14:sldId id="262"/>
            <p14:sldId id="263"/>
            <p14:sldId id="264"/>
          </p14:sldIdLst>
        </p14:section>
        <p14:section name="Business" id="{eee8ad76-df95-63f5-97b9-0f07e62b6fa5}">
          <p14:sldIdLst>
            <p14:sldId id="265"/>
            <p14:sldId id="266"/>
            <p14:sldId id="267"/>
          </p14:sldIdLst>
        </p14:section>
        <p14:section name="Next" id="{d7b9e632-64c5-4b93-53e3-cae4b5e86f83}">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PlayerOne is an AI playtester for small studios. Local model plays, engine console catches errors, a big model only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sit between scripted automation and computer-use agents: no integration, but exact errors and low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5E5E66"/>
                </a:solidFill>
                <a:latin typeface="Courier New" pitchFamily="34" charset="0"/>
                <a:ea typeface="Courier New" pitchFamily="34" charset="-122"/>
                <a:cs typeface="Courier New" pitchFamily="34" charset="-120"/>
              </a:rPr>
              <a:t>PlayerOne</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yeni/Documents/cpp/AI-hakaton/deck/llama.jpg">    </p:cNvPr>
          <p:cNvPicPr>
            <a:picLocks noChangeAspect="1"/>
          </p:cNvPicPr>
          <p:nvPr/>
        </p:nvPicPr>
        <p:blipFill>
          <a:blip r:embed="rId1"/>
          <a:srcRect l="0" r="0" t="0" b="0"/>
          <a:stretch/>
        </p:blipFill>
        <p:spPr>
          <a:xfrm>
            <a:off x="5852160" y="0"/>
            <a:ext cx="6336792" cy="6858000"/>
          </a:xfrm>
          <a:prstGeom prst="rect">
            <a:avLst/>
          </a:prstGeom>
        </p:spPr>
      </p:pic>
      <p:sp>
        <p:nvSpPr>
          <p:cNvPr id="3" name="Shape 0"/>
          <p:cNvSpPr/>
          <p:nvPr/>
        </p:nvSpPr>
        <p:spPr>
          <a:xfrm>
            <a:off x="5852160" y="0"/>
            <a:ext cx="6336792" cy="6858000"/>
          </a:xfrm>
          <a:prstGeom prst="rect">
            <a:avLst/>
          </a:prstGeom>
          <a:solidFill>
            <a:srgbClr val="0B0B0D">
              <a:alpha val="55000"/>
            </a:srgbClr>
          </a:solidFill>
          <a:ln w="12700">
            <a:solidFill>
              <a:srgbClr val="0B0B0D"/>
            </a:solidFill>
            <a:prstDash val="solid"/>
          </a:ln>
        </p:spPr>
      </p:sp>
      <p:sp>
        <p:nvSpPr>
          <p:cNvPr id="4" name="Text 1"/>
          <p:cNvSpPr txBox="1"/>
          <p:nvPr/>
        </p:nvSpPr>
        <p:spPr>
          <a:xfrm>
            <a:off x="548640" y="548640"/>
            <a:ext cx="5486400" cy="274320"/>
          </a:xfrm>
          <a:prstGeom prst="rect">
            <a:avLst/>
          </a:prstGeom>
          <a:noFill/>
          <a:ln/>
        </p:spPr>
        <p:txBody>
          <a:bodyPr wrap="square" lIns="0" tIns="0" rIns="0" bIns="0" rtlCol="0" anchor="t"/>
          <a:lstStyle/>
          <a:p>
            <a:pPr indent="0" marL="0">
              <a:buNone/>
            </a:pPr>
            <a:r>
              <a:rPr lang="en-US" sz="1200" dirty="0">
                <a:solidFill>
                  <a:srgbClr val="9A9AA3"/>
                </a:solidFill>
                <a:latin typeface="Courier New" pitchFamily="34" charset="0"/>
                <a:ea typeface="Courier New" pitchFamily="34" charset="-122"/>
                <a:cs typeface="Courier New" pitchFamily="34" charset="-120"/>
              </a:rPr>
              <a:t>AI Gaming  |  Team Cyber Tesla  |  NeuroBridge.SI Baku 2026</a:t>
            </a:r>
            <a:endParaRPr lang="en-US" sz="1200" dirty="0"/>
          </a:p>
        </p:txBody>
      </p:sp>
      <p:sp>
        <p:nvSpPr>
          <p:cNvPr id="5" name="Text 2"/>
          <p:cNvSpPr txBox="1"/>
          <p:nvPr/>
        </p:nvSpPr>
        <p:spPr>
          <a:xfrm>
            <a:off x="548640" y="1828800"/>
            <a:ext cx="5486400" cy="1188720"/>
          </a:xfrm>
          <a:prstGeom prst="rect">
            <a:avLst/>
          </a:prstGeom>
          <a:noFill/>
          <a:ln/>
        </p:spPr>
        <p:txBody>
          <a:bodyPr wrap="square" lIns="0" tIns="0" rIns="0" bIns="0" rtlCol="0" anchor="t"/>
          <a:lstStyle/>
          <a:p>
            <a:pPr indent="0" marL="0">
              <a:buNone/>
            </a:pPr>
            <a:r>
              <a:rPr lang="en-US" sz="6600" b="1" dirty="0">
                <a:solidFill>
                  <a:srgbClr val="F2F2F0"/>
                </a:solidFill>
                <a:latin typeface="Arial" pitchFamily="34" charset="0"/>
                <a:ea typeface="Arial" pitchFamily="34" charset="-122"/>
                <a:cs typeface="Arial" pitchFamily="34" charset="-120"/>
              </a:rPr>
              <a:t>PlayerOne</a:t>
            </a:r>
            <a:endParaRPr lang="en-US" sz="6600" dirty="0"/>
          </a:p>
        </p:txBody>
      </p:sp>
      <p:sp>
        <p:nvSpPr>
          <p:cNvPr id="6" name="Text 3"/>
          <p:cNvSpPr txBox="1"/>
          <p:nvPr/>
        </p:nvSpPr>
        <p:spPr>
          <a:xfrm>
            <a:off x="548640" y="3108960"/>
            <a:ext cx="4937760" cy="1097280"/>
          </a:xfrm>
          <a:prstGeom prst="rect">
            <a:avLst/>
          </a:prstGeom>
          <a:noFill/>
          <a:ln/>
        </p:spPr>
        <p:txBody>
          <a:bodyPr wrap="square" lIns="0" tIns="0" rIns="0" bIns="0" rtlCol="0" anchor="t"/>
          <a:lstStyle/>
          <a:p>
            <a:pPr indent="0" marL="0">
              <a:buNone/>
            </a:pPr>
            <a:r>
              <a:rPr lang="en-US" sz="2000" dirty="0">
                <a:solidFill>
                  <a:srgbClr val="F2F2F0"/>
                </a:solidFill>
                <a:latin typeface="Arial" pitchFamily="34" charset="0"/>
                <a:ea typeface="Arial" pitchFamily="34" charset="-122"/>
                <a:cs typeface="Arial" pitchFamily="34" charset="-120"/>
              </a:rPr>
              <a:t>An AI playtester. It plays your game, catches the bug, and files the report with proof.</a:t>
            </a:r>
            <a:endParaRPr lang="en-US" sz="2000" dirty="0"/>
          </a:p>
        </p:txBody>
      </p:sp>
      <p:sp>
        <p:nvSpPr>
          <p:cNvPr id="7" name="Text 4"/>
          <p:cNvSpPr txBox="1"/>
          <p:nvPr/>
        </p:nvSpPr>
        <p:spPr>
          <a:xfrm>
            <a:off x="548640" y="4297680"/>
            <a:ext cx="5120640" cy="73152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A free local AI does the playing. </a:t>
            </a:r>
            <a:pPr indent="0" marL="0">
              <a:buNone/>
            </a:pPr>
            <a:r>
              <a:rPr lang="en-US" sz="1600" b="1" dirty="0">
                <a:solidFill>
                  <a:srgbClr val="FF3D71"/>
                </a:solidFill>
                <a:latin typeface="Arial" pitchFamily="34" charset="0"/>
                <a:ea typeface="Arial" pitchFamily="34" charset="-122"/>
                <a:cs typeface="Arial" pitchFamily="34" charset="-120"/>
              </a:rPr>
              <a:t>A big AI only does the judging.</a:t>
            </a:r>
            <a:endParaRPr lang="en-US" sz="1600" dirty="0"/>
          </a:p>
        </p:txBody>
      </p:sp>
      <p:sp>
        <p:nvSpPr>
          <p:cNvPr id="8" name="Text 5"/>
          <p:cNvSpPr txBox="1"/>
          <p:nvPr/>
        </p:nvSpPr>
        <p:spPr>
          <a:xfrm>
            <a:off x="548640" y="5394960"/>
            <a:ext cx="5486400" cy="640080"/>
          </a:xfrm>
          <a:prstGeom prst="rect">
            <a:avLst/>
          </a:prstGeom>
          <a:noFill/>
          <a:ln/>
        </p:spPr>
        <p:txBody>
          <a:bodyPr wrap="square" lIns="0" tIns="0" rIns="0" bIns="0" rtlCol="0" anchor="t"/>
          <a:lstStyle/>
          <a:p>
            <a:pPr indent="0" marL="0">
              <a:buNone/>
            </a:pPr>
            <a:r>
              <a:rPr lang="en-US" sz="1200" dirty="0">
                <a:solidFill>
                  <a:srgbClr val="9A9AA3"/>
                </a:solidFill>
                <a:latin typeface="Courier New" pitchFamily="34" charset="0"/>
                <a:ea typeface="Courier New" pitchFamily="34" charset="-122"/>
                <a:cs typeface="Courier New" pitchFamily="34" charset="-120"/>
              </a:rPr>
              <a:t>roaring-alfajores-8a941a.netlify.app</a:t>
            </a:r>
            <a:endParaRPr lang="en-US" sz="1200" dirty="0"/>
          </a:p>
          <a:p>
            <a:pPr indent="0" marL="0">
              <a:buNone/>
            </a:pPr>
            <a:r>
              <a:rPr lang="en-US" sz="1200" dirty="0">
                <a:solidFill>
                  <a:srgbClr val="9A9AA3"/>
                </a:solidFill>
                <a:latin typeface="Courier New" pitchFamily="34" charset="0"/>
                <a:ea typeface="Courier New" pitchFamily="34" charset="-122"/>
                <a:cs typeface="Courier New" pitchFamily="34" charset="-120"/>
              </a:rPr>
              <a:t>github.com/nijathatamli/AI-hakaton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presetID="10" presetClass="entr" presetSubtype="0" fill="hold" nodeType="withEffect">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36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48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60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Value for the user</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Small studios ship bugs because nobody has time to replay the game</a:t>
            </a:r>
            <a:endParaRPr lang="en-US" sz="3600" dirty="0"/>
          </a:p>
        </p:txBody>
      </p:sp>
      <p:sp>
        <p:nvSpPr>
          <p:cNvPr id="4" name="Text 2"/>
          <p:cNvSpPr txBox="1"/>
          <p:nvPr/>
        </p:nvSpPr>
        <p:spPr>
          <a:xfrm>
            <a:off x="548640" y="2011680"/>
            <a:ext cx="4937760" cy="182880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Indie teams of 1 to 15 people build PC games in Godot, Unity and Unreal with no QA team. The first bug report is often a one-star review with no steps to reproduce.</a:t>
            </a:r>
            <a:endParaRPr lang="en-US" sz="1600" dirty="0"/>
          </a:p>
        </p:txBody>
      </p:sp>
      <p:sp>
        <p:nvSpPr>
          <p:cNvPr id="5" name="Shape 3"/>
          <p:cNvSpPr/>
          <p:nvPr/>
        </p:nvSpPr>
        <p:spPr>
          <a:xfrm>
            <a:off x="6126480" y="2011680"/>
            <a:ext cx="5486400" cy="1143000"/>
          </a:xfrm>
          <a:prstGeom prst="roundRect">
            <a:avLst>
              <a:gd name="adj" fmla="val 9600"/>
            </a:avLst>
          </a:prstGeom>
          <a:solidFill>
            <a:srgbClr val="141418"/>
          </a:solidFill>
          <a:ln w="9525">
            <a:solidFill>
              <a:srgbClr val="2A2A31"/>
            </a:solidFill>
            <a:prstDash val="solid"/>
          </a:ln>
        </p:spPr>
      </p:sp>
      <p:sp>
        <p:nvSpPr>
          <p:cNvPr id="6" name="Text 4"/>
          <p:cNvSpPr txBox="1"/>
          <p:nvPr/>
        </p:nvSpPr>
        <p:spPr>
          <a:xfrm>
            <a:off x="6355080" y="219456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Manual testing</a:t>
            </a:r>
            <a:endParaRPr lang="en-US" sz="1600" dirty="0"/>
          </a:p>
        </p:txBody>
      </p:sp>
      <p:sp>
        <p:nvSpPr>
          <p:cNvPr id="7" name="Text 5"/>
          <p:cNvSpPr txBox="1"/>
          <p:nvPr/>
        </p:nvSpPr>
        <p:spPr>
          <a:xfrm>
            <a:off x="6355080" y="254203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Slow and repetitive. Nobody replays level 3 for the hundredth time after every build.</a:t>
            </a:r>
            <a:endParaRPr lang="en-US" sz="1400" dirty="0"/>
          </a:p>
        </p:txBody>
      </p:sp>
      <p:sp>
        <p:nvSpPr>
          <p:cNvPr id="8" name="Shape 6"/>
          <p:cNvSpPr/>
          <p:nvPr/>
        </p:nvSpPr>
        <p:spPr>
          <a:xfrm>
            <a:off x="6126480" y="3337560"/>
            <a:ext cx="5486400" cy="1143000"/>
          </a:xfrm>
          <a:prstGeom prst="roundRect">
            <a:avLst>
              <a:gd name="adj" fmla="val 9600"/>
            </a:avLst>
          </a:prstGeom>
          <a:solidFill>
            <a:srgbClr val="141418"/>
          </a:solidFill>
          <a:ln w="9525">
            <a:solidFill>
              <a:srgbClr val="2A2A31"/>
            </a:solidFill>
            <a:prstDash val="solid"/>
          </a:ln>
        </p:spPr>
      </p:sp>
      <p:sp>
        <p:nvSpPr>
          <p:cNvPr id="9" name="Text 7"/>
          <p:cNvSpPr txBox="1"/>
          <p:nvPr/>
        </p:nvSpPr>
        <p:spPr>
          <a:xfrm>
            <a:off x="6355080" y="352044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Hiring QA</a:t>
            </a:r>
            <a:endParaRPr lang="en-US" sz="1600" dirty="0"/>
          </a:p>
        </p:txBody>
      </p:sp>
      <p:sp>
        <p:nvSpPr>
          <p:cNvPr id="10" name="Text 8"/>
          <p:cNvSpPr txBox="1"/>
          <p:nvPr/>
        </p:nvSpPr>
        <p:spPr>
          <a:xfrm>
            <a:off x="6355080" y="386791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Too expensive for a small team, and still slow to turn around.</a:t>
            </a:r>
            <a:endParaRPr lang="en-US" sz="1400" dirty="0"/>
          </a:p>
        </p:txBody>
      </p:sp>
      <p:sp>
        <p:nvSpPr>
          <p:cNvPr id="11" name="Shape 9"/>
          <p:cNvSpPr/>
          <p:nvPr/>
        </p:nvSpPr>
        <p:spPr>
          <a:xfrm>
            <a:off x="6126480" y="4663440"/>
            <a:ext cx="5486400" cy="1143000"/>
          </a:xfrm>
          <a:prstGeom prst="roundRect">
            <a:avLst>
              <a:gd name="adj" fmla="val 9600"/>
            </a:avLst>
          </a:prstGeom>
          <a:solidFill>
            <a:srgbClr val="141418"/>
          </a:solidFill>
          <a:ln w="9525">
            <a:solidFill>
              <a:srgbClr val="2A2A31"/>
            </a:solidFill>
            <a:prstDash val="solid"/>
          </a:ln>
        </p:spPr>
      </p:sp>
      <p:sp>
        <p:nvSpPr>
          <p:cNvPr id="12" name="Text 10"/>
          <p:cNvSpPr txBox="1"/>
          <p:nvPr/>
        </p:nvSpPr>
        <p:spPr>
          <a:xfrm>
            <a:off x="6355080" y="4846320"/>
            <a:ext cx="5029200" cy="32004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A big AI playing</a:t>
            </a:r>
            <a:endParaRPr lang="en-US" sz="1600" dirty="0"/>
          </a:p>
        </p:txBody>
      </p:sp>
      <p:sp>
        <p:nvSpPr>
          <p:cNvPr id="13" name="Text 11"/>
          <p:cNvSpPr txBox="1"/>
          <p:nvPr/>
        </p:nvSpPr>
        <p:spPr>
          <a:xfrm>
            <a:off x="6355080" y="5193792"/>
            <a:ext cx="5029200" cy="54864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Reads a full screenshot every move: 67,000 to 85,000 tokens per minute of play.</a:t>
            </a:r>
            <a:endParaRPr lang="en-US" sz="1400" dirty="0"/>
          </a:p>
        </p:txBody>
      </p:sp>
      <p:sp>
        <p:nvSpPr>
          <p:cNvPr id="14" name="Shape 12"/>
          <p:cNvSpPr/>
          <p:nvPr/>
        </p:nvSpPr>
        <p:spPr>
          <a:xfrm>
            <a:off x="548640" y="4206240"/>
            <a:ext cx="4937760" cy="1463040"/>
          </a:xfrm>
          <a:prstGeom prst="roundRect">
            <a:avLst>
              <a:gd name="adj" fmla="val 7500"/>
            </a:avLst>
          </a:prstGeom>
          <a:solidFill>
            <a:srgbClr val="1A0F14"/>
          </a:solidFill>
          <a:ln w="9525">
            <a:solidFill>
              <a:srgbClr val="2A2A31"/>
            </a:solidFill>
            <a:prstDash val="solid"/>
          </a:ln>
        </p:spPr>
      </p:sp>
      <p:sp>
        <p:nvSpPr>
          <p:cNvPr id="15" name="Text 13"/>
          <p:cNvSpPr txBox="1"/>
          <p:nvPr/>
        </p:nvSpPr>
        <p:spPr>
          <a:xfrm>
            <a:off x="777240" y="4389120"/>
            <a:ext cx="457200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The outcome</a:t>
            </a:r>
            <a:endParaRPr lang="en-US" sz="1200" dirty="0"/>
          </a:p>
        </p:txBody>
      </p:sp>
      <p:sp>
        <p:nvSpPr>
          <p:cNvPr id="16" name="Text 14"/>
          <p:cNvSpPr txBox="1"/>
          <p:nvPr/>
        </p:nvSpPr>
        <p:spPr>
          <a:xfrm>
            <a:off x="777240" y="4754880"/>
            <a:ext cx="4480560" cy="82296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A bug report after every build: error, stack trace, repro steps, the frames before it, and a clip.</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156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168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180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How it works</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Split the brain. Cheap hands, smart judge.</a:t>
            </a:r>
            <a:endParaRPr lang="en-US" sz="3600" dirty="0"/>
          </a:p>
        </p:txBody>
      </p:sp>
      <p:sp>
        <p:nvSpPr>
          <p:cNvPr id="4" name="Shape 2"/>
          <p:cNvSpPr/>
          <p:nvPr/>
        </p:nvSpPr>
        <p:spPr>
          <a:xfrm>
            <a:off x="548640" y="2194560"/>
            <a:ext cx="3520440" cy="3474720"/>
          </a:xfrm>
          <a:prstGeom prst="roundRect">
            <a:avLst>
              <a:gd name="adj" fmla="val 3158"/>
            </a:avLst>
          </a:prstGeom>
          <a:solidFill>
            <a:srgbClr val="141418"/>
          </a:solidFill>
          <a:ln w="9525">
            <a:solidFill>
              <a:srgbClr val="2A2A31"/>
            </a:solidFill>
            <a:prstDash val="solid"/>
          </a:ln>
        </p:spPr>
      </p:sp>
      <p:sp>
        <p:nvSpPr>
          <p:cNvPr id="5" name="Text 3"/>
          <p:cNvSpPr txBox="1"/>
          <p:nvPr/>
        </p:nvSpPr>
        <p:spPr>
          <a:xfrm>
            <a:off x="82296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1</a:t>
            </a:r>
            <a:endParaRPr lang="en-US" sz="4400" dirty="0"/>
          </a:p>
        </p:txBody>
      </p:sp>
      <p:sp>
        <p:nvSpPr>
          <p:cNvPr id="6" name="Text 4"/>
          <p:cNvSpPr txBox="1"/>
          <p:nvPr/>
        </p:nvSpPr>
        <p:spPr>
          <a:xfrm>
            <a:off x="82296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Play</a:t>
            </a:r>
            <a:endParaRPr lang="en-US" sz="2400" dirty="0"/>
          </a:p>
        </p:txBody>
      </p:sp>
      <p:sp>
        <p:nvSpPr>
          <p:cNvPr id="7" name="Text 5"/>
          <p:cNvSpPr txBox="1"/>
          <p:nvPr/>
        </p:nvSpPr>
        <p:spPr>
          <a:xfrm>
            <a:off x="82296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Free, on your PC</a:t>
            </a:r>
            <a:endParaRPr lang="en-US" sz="1200" dirty="0"/>
          </a:p>
        </p:txBody>
      </p:sp>
      <p:sp>
        <p:nvSpPr>
          <p:cNvPr id="8" name="Text 6"/>
          <p:cNvSpPr txBox="1"/>
          <p:nvPr/>
        </p:nvSpPr>
        <p:spPr>
          <a:xfrm>
            <a:off x="82296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A local vision AI or our free bot plays the game with real keys and mouse. Any engine, no SDK.</a:t>
            </a:r>
            <a:endParaRPr lang="en-US" sz="1400" dirty="0"/>
          </a:p>
        </p:txBody>
      </p:sp>
      <p:sp>
        <p:nvSpPr>
          <p:cNvPr id="9" name="Text 7"/>
          <p:cNvSpPr txBox="1"/>
          <p:nvPr/>
        </p:nvSpPr>
        <p:spPr>
          <a:xfrm>
            <a:off x="4096512" y="3566160"/>
            <a:ext cx="274320" cy="457200"/>
          </a:xfrm>
          <a:prstGeom prst="rect">
            <a:avLst/>
          </a:prstGeom>
          <a:noFill/>
          <a:ln/>
        </p:spPr>
        <p:txBody>
          <a:bodyPr wrap="square" lIns="0" tIns="0" rIns="0" bIns="0" rtlCol="0" anchor="t"/>
          <a:lstStyle/>
          <a:p>
            <a:pPr algn="ctr" indent="0" marL="0">
              <a:buNone/>
            </a:pPr>
            <a:r>
              <a:rPr lang="en-US" sz="2000" dirty="0">
                <a:solidFill>
                  <a:srgbClr val="5E5E66"/>
                </a:solidFill>
                <a:latin typeface="Courier New" pitchFamily="34" charset="0"/>
                <a:ea typeface="Courier New" pitchFamily="34" charset="-122"/>
                <a:cs typeface="Courier New" pitchFamily="34" charset="-120"/>
              </a:rPr>
              <a:t>&gt;</a:t>
            </a:r>
            <a:endParaRPr lang="en-US" sz="2000" dirty="0"/>
          </a:p>
        </p:txBody>
      </p:sp>
      <p:sp>
        <p:nvSpPr>
          <p:cNvPr id="10" name="Shape 8"/>
          <p:cNvSpPr/>
          <p:nvPr/>
        </p:nvSpPr>
        <p:spPr>
          <a:xfrm>
            <a:off x="4389120" y="2194560"/>
            <a:ext cx="3520440" cy="3474720"/>
          </a:xfrm>
          <a:prstGeom prst="roundRect">
            <a:avLst>
              <a:gd name="adj" fmla="val 3158"/>
            </a:avLst>
          </a:prstGeom>
          <a:solidFill>
            <a:srgbClr val="141418"/>
          </a:solidFill>
          <a:ln w="9525">
            <a:solidFill>
              <a:srgbClr val="2A2A31"/>
            </a:solidFill>
            <a:prstDash val="solid"/>
          </a:ln>
        </p:spPr>
      </p:sp>
      <p:sp>
        <p:nvSpPr>
          <p:cNvPr id="11" name="Text 9"/>
          <p:cNvSpPr txBox="1"/>
          <p:nvPr/>
        </p:nvSpPr>
        <p:spPr>
          <a:xfrm>
            <a:off x="466344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2</a:t>
            </a:r>
            <a:endParaRPr lang="en-US" sz="4400" dirty="0"/>
          </a:p>
        </p:txBody>
      </p:sp>
      <p:sp>
        <p:nvSpPr>
          <p:cNvPr id="12" name="Text 10"/>
          <p:cNvSpPr txBox="1"/>
          <p:nvPr/>
        </p:nvSpPr>
        <p:spPr>
          <a:xfrm>
            <a:off x="466344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Watch</a:t>
            </a:r>
            <a:endParaRPr lang="en-US" sz="2400" dirty="0"/>
          </a:p>
        </p:txBody>
      </p:sp>
      <p:sp>
        <p:nvSpPr>
          <p:cNvPr id="13" name="Text 11"/>
          <p:cNvSpPr txBox="1"/>
          <p:nvPr/>
        </p:nvSpPr>
        <p:spPr>
          <a:xfrm>
            <a:off x="466344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Exact, zero tokens</a:t>
            </a:r>
            <a:endParaRPr lang="en-US" sz="1200" dirty="0"/>
          </a:p>
        </p:txBody>
      </p:sp>
      <p:sp>
        <p:nvSpPr>
          <p:cNvPr id="14" name="Text 12"/>
          <p:cNvSpPr txBox="1"/>
          <p:nvPr/>
        </p:nvSpPr>
        <p:spPr>
          <a:xfrm>
            <a:off x="466344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Reads the engine console, catches crashes, hangs and soft-locks, keeps the last 12 seconds.</a:t>
            </a:r>
            <a:endParaRPr lang="en-US" sz="1400" dirty="0"/>
          </a:p>
        </p:txBody>
      </p:sp>
      <p:sp>
        <p:nvSpPr>
          <p:cNvPr id="15" name="Text 13"/>
          <p:cNvSpPr txBox="1"/>
          <p:nvPr/>
        </p:nvSpPr>
        <p:spPr>
          <a:xfrm>
            <a:off x="7936992" y="3566160"/>
            <a:ext cx="274320" cy="457200"/>
          </a:xfrm>
          <a:prstGeom prst="rect">
            <a:avLst/>
          </a:prstGeom>
          <a:noFill/>
          <a:ln/>
        </p:spPr>
        <p:txBody>
          <a:bodyPr wrap="square" lIns="0" tIns="0" rIns="0" bIns="0" rtlCol="0" anchor="t"/>
          <a:lstStyle/>
          <a:p>
            <a:pPr algn="ctr" indent="0" marL="0">
              <a:buNone/>
            </a:pPr>
            <a:r>
              <a:rPr lang="en-US" sz="2000" dirty="0">
                <a:solidFill>
                  <a:srgbClr val="5E5E66"/>
                </a:solidFill>
                <a:latin typeface="Courier New" pitchFamily="34" charset="0"/>
                <a:ea typeface="Courier New" pitchFamily="34" charset="-122"/>
                <a:cs typeface="Courier New" pitchFamily="34" charset="-120"/>
              </a:rPr>
              <a:t>&gt;</a:t>
            </a:r>
            <a:endParaRPr lang="en-US" sz="2000" dirty="0"/>
          </a:p>
        </p:txBody>
      </p:sp>
      <p:sp>
        <p:nvSpPr>
          <p:cNvPr id="16" name="Shape 14"/>
          <p:cNvSpPr/>
          <p:nvPr/>
        </p:nvSpPr>
        <p:spPr>
          <a:xfrm>
            <a:off x="8229600" y="2194560"/>
            <a:ext cx="3520440" cy="3474720"/>
          </a:xfrm>
          <a:prstGeom prst="roundRect">
            <a:avLst>
              <a:gd name="adj" fmla="val 3158"/>
            </a:avLst>
          </a:prstGeom>
          <a:solidFill>
            <a:srgbClr val="141418"/>
          </a:solidFill>
          <a:ln w="9525">
            <a:solidFill>
              <a:srgbClr val="2A2A31"/>
            </a:solidFill>
            <a:prstDash val="solid"/>
          </a:ln>
        </p:spPr>
      </p:sp>
      <p:sp>
        <p:nvSpPr>
          <p:cNvPr id="17" name="Text 15"/>
          <p:cNvSpPr txBox="1"/>
          <p:nvPr/>
        </p:nvSpPr>
        <p:spPr>
          <a:xfrm>
            <a:off x="8503920" y="2423160"/>
            <a:ext cx="914400" cy="822960"/>
          </a:xfrm>
          <a:prstGeom prst="rect">
            <a:avLst/>
          </a:prstGeom>
          <a:noFill/>
          <a:ln/>
        </p:spPr>
        <p:txBody>
          <a:bodyPr wrap="square" lIns="0" tIns="0" rIns="0" bIns="0" rtlCol="0" anchor="t"/>
          <a:lstStyle/>
          <a:p>
            <a:pPr indent="0" marL="0">
              <a:buNone/>
            </a:pPr>
            <a:r>
              <a:rPr lang="en-US" sz="4400" b="1" dirty="0">
                <a:solidFill>
                  <a:srgbClr val="FF3D71"/>
                </a:solidFill>
                <a:latin typeface="Courier New" pitchFamily="34" charset="0"/>
                <a:ea typeface="Courier New" pitchFamily="34" charset="-122"/>
                <a:cs typeface="Courier New" pitchFamily="34" charset="-120"/>
              </a:rPr>
              <a:t>3</a:t>
            </a:r>
            <a:endParaRPr lang="en-US" sz="4400" dirty="0"/>
          </a:p>
        </p:txBody>
      </p:sp>
      <p:sp>
        <p:nvSpPr>
          <p:cNvPr id="18" name="Text 16"/>
          <p:cNvSpPr txBox="1"/>
          <p:nvPr/>
        </p:nvSpPr>
        <p:spPr>
          <a:xfrm>
            <a:off x="8503920" y="3291840"/>
            <a:ext cx="3017520" cy="457200"/>
          </a:xfrm>
          <a:prstGeom prst="rect">
            <a:avLst/>
          </a:prstGeom>
          <a:noFill/>
          <a:ln/>
        </p:spPr>
        <p:txBody>
          <a:bodyPr wrap="square" lIns="0" tIns="0" rIns="0" bIns="0" rtlCol="0" anchor="t"/>
          <a:lstStyle/>
          <a:p>
            <a:pPr indent="0" marL="0">
              <a:buNone/>
            </a:pPr>
            <a:r>
              <a:rPr lang="en-US" sz="2400" b="1" dirty="0">
                <a:solidFill>
                  <a:srgbClr val="F2F2F0"/>
                </a:solidFill>
                <a:latin typeface="Arial" pitchFamily="34" charset="0"/>
                <a:ea typeface="Arial" pitchFamily="34" charset="-122"/>
                <a:cs typeface="Arial" pitchFamily="34" charset="-120"/>
              </a:rPr>
              <a:t>Judge</a:t>
            </a:r>
            <a:endParaRPr lang="en-US" sz="2400" dirty="0"/>
          </a:p>
        </p:txBody>
      </p:sp>
      <p:sp>
        <p:nvSpPr>
          <p:cNvPr id="19" name="Text 17"/>
          <p:cNvSpPr txBox="1"/>
          <p:nvPr/>
        </p:nvSpPr>
        <p:spPr>
          <a:xfrm>
            <a:off x="8503920" y="3749040"/>
            <a:ext cx="301752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Your AI, tiny digests</a:t>
            </a:r>
            <a:endParaRPr lang="en-US" sz="1200" dirty="0"/>
          </a:p>
        </p:txBody>
      </p:sp>
      <p:sp>
        <p:nvSpPr>
          <p:cNvPr id="20" name="Text 18"/>
          <p:cNvSpPr txBox="1"/>
          <p:nvPr/>
        </p:nvSpPr>
        <p:spPr>
          <a:xfrm>
            <a:off x="8503920" y="4160520"/>
            <a:ext cx="3017520" cy="13716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Claude, Codex or Gemini read a 45 KB summary, decide what is a real bug and write the ticket.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156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168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18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nodeType="withEffect">
                                  <p:stCondLst>
                                    <p:cond delay="192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204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216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228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The prototype</a:t>
            </a:r>
            <a:endParaRPr lang="en-US" sz="1300" dirty="0"/>
          </a:p>
        </p:txBody>
      </p:sp>
      <p:sp>
        <p:nvSpPr>
          <p:cNvPr id="3" name="Text 1"/>
          <p:cNvSpPr txBox="1"/>
          <p:nvPr/>
        </p:nvSpPr>
        <p:spPr>
          <a:xfrm>
            <a:off x="548640" y="777240"/>
            <a:ext cx="54864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Pick a game. It knows how to play.</a:t>
            </a:r>
            <a:endParaRPr lang="en-US" sz="3600" dirty="0"/>
          </a:p>
        </p:txBody>
      </p:sp>
      <p:sp>
        <p:nvSpPr>
          <p:cNvPr id="4" name="Text 2"/>
          <p:cNvSpPr txBox="1"/>
          <p:nvPr/>
        </p:nvSpPr>
        <p:spPr>
          <a:xfrm>
            <a:off x="548640" y="2011680"/>
            <a:ext cx="4480560" cy="1828800"/>
          </a:xfrm>
          <a:prstGeom prst="rect">
            <a:avLst/>
          </a:prstGeom>
          <a:noFill/>
          <a:ln/>
        </p:spPr>
        <p:txBody>
          <a:bodyPr wrap="square" lIns="0" tIns="0" rIns="0" bIns="0" rtlCol="0" anchor="t"/>
          <a:lstStyle/>
          <a:p>
            <a:pPr indent="0" marL="0">
              <a:buNone/>
            </a:pPr>
            <a:r>
              <a:rPr lang="en-US" sz="1600" dirty="0">
                <a:solidFill>
                  <a:srgbClr val="9A9AA3"/>
                </a:solidFill>
                <a:latin typeface="Arial" pitchFamily="34" charset="0"/>
                <a:ea typeface="Arial" pitchFamily="34" charset="-122"/>
                <a:cs typeface="Arial" pitchFamily="34" charset="-120"/>
              </a:rPr>
              <a:t>PlayerOne recognises the game, suggests the controls, and you approve exactly what the AI may press. It never touches Alt+F4 or anything outside the game. F8 stops it anywhere.</a:t>
            </a:r>
            <a:endParaRPr lang="en-US" sz="1600" dirty="0"/>
          </a:p>
        </p:txBody>
      </p:sp>
      <p:sp>
        <p:nvSpPr>
          <p:cNvPr id="5" name="Text 3"/>
          <p:cNvSpPr txBox="1"/>
          <p:nvPr/>
        </p:nvSpPr>
        <p:spPr>
          <a:xfrm>
            <a:off x="548640" y="39319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v0.2.3</a:t>
            </a:r>
            <a:endParaRPr lang="en-US" sz="2000" dirty="0"/>
          </a:p>
        </p:txBody>
      </p:sp>
      <p:sp>
        <p:nvSpPr>
          <p:cNvPr id="6" name="Text 4"/>
          <p:cNvSpPr txBox="1"/>
          <p:nvPr/>
        </p:nvSpPr>
        <p:spPr>
          <a:xfrm>
            <a:off x="1874520" y="39959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released with installers</a:t>
            </a:r>
            <a:endParaRPr lang="en-US" sz="1400" dirty="0"/>
          </a:p>
        </p:txBody>
      </p:sp>
      <p:sp>
        <p:nvSpPr>
          <p:cNvPr id="7" name="Text 5"/>
          <p:cNvSpPr txBox="1"/>
          <p:nvPr/>
        </p:nvSpPr>
        <p:spPr>
          <a:xfrm>
            <a:off x="548640" y="46177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5</a:t>
            </a:r>
            <a:endParaRPr lang="en-US" sz="2000" dirty="0"/>
          </a:p>
        </p:txBody>
      </p:sp>
      <p:sp>
        <p:nvSpPr>
          <p:cNvPr id="8" name="Text 6"/>
          <p:cNvSpPr txBox="1"/>
          <p:nvPr/>
        </p:nvSpPr>
        <p:spPr>
          <a:xfrm>
            <a:off x="1874520" y="46817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targets: Windows x64, x86, ARM64, macOS, Linux</a:t>
            </a:r>
            <a:endParaRPr lang="en-US" sz="1400" dirty="0"/>
          </a:p>
        </p:txBody>
      </p:sp>
      <p:sp>
        <p:nvSpPr>
          <p:cNvPr id="9" name="Text 7"/>
          <p:cNvSpPr txBox="1"/>
          <p:nvPr/>
        </p:nvSpPr>
        <p:spPr>
          <a:xfrm>
            <a:off x="548640" y="5303520"/>
            <a:ext cx="1280160" cy="457200"/>
          </a:xfrm>
          <a:prstGeom prst="rect">
            <a:avLst/>
          </a:prstGeom>
          <a:noFill/>
          <a:ln/>
        </p:spPr>
        <p:txBody>
          <a:bodyPr wrap="square" lIns="0" tIns="0" rIns="0" bIns="0" rtlCol="0" anchor="t"/>
          <a:lstStyle/>
          <a:p>
            <a:pPr indent="0" marL="0">
              <a:buNone/>
            </a:pPr>
            <a:r>
              <a:rPr lang="en-US" sz="2000" b="1" dirty="0">
                <a:solidFill>
                  <a:srgbClr val="FF3D71"/>
                </a:solidFill>
                <a:latin typeface="Courier New" pitchFamily="34" charset="0"/>
                <a:ea typeface="Courier New" pitchFamily="34" charset="-122"/>
                <a:cs typeface="Courier New" pitchFamily="34" charset="-120"/>
              </a:rPr>
              <a:t>MCP</a:t>
            </a:r>
            <a:endParaRPr lang="en-US" sz="2000" dirty="0"/>
          </a:p>
        </p:txBody>
      </p:sp>
      <p:sp>
        <p:nvSpPr>
          <p:cNvPr id="10" name="Text 8"/>
          <p:cNvSpPr txBox="1"/>
          <p:nvPr/>
        </p:nvSpPr>
        <p:spPr>
          <a:xfrm>
            <a:off x="1874520" y="5367528"/>
            <a:ext cx="3200400" cy="4572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Claude Code, Codex, Gemini CLI direct it</a:t>
            </a:r>
            <a:endParaRPr lang="en-US" sz="1400" dirty="0"/>
          </a:p>
        </p:txBody>
      </p:sp>
      <p:pic>
        <p:nvPicPr>
          <p:cNvPr id="11" name="Image 0" descr="C:/Users/yeni/Documents/cpp/AI-hakaton/deck/app.png">    </p:cNvPr>
          <p:cNvPicPr>
            <a:picLocks noChangeAspect="1"/>
          </p:cNvPicPr>
          <p:nvPr/>
        </p:nvPicPr>
        <p:blipFill>
          <a:blip r:embed="rId1"/>
          <a:stretch>
            <a:fillRect/>
          </a:stretch>
        </p:blipFill>
        <p:spPr>
          <a:xfrm>
            <a:off x="5394960" y="1005840"/>
            <a:ext cx="6263640" cy="4014216"/>
          </a:xfrm>
          <a:prstGeom prst="rect">
            <a:avLst/>
          </a:prstGeom>
        </p:spPr>
      </p:pic>
      <p:sp>
        <p:nvSpPr>
          <p:cNvPr id="12" name="Text 9"/>
          <p:cNvSpPr txBox="1"/>
          <p:nvPr/>
        </p:nvSpPr>
        <p:spPr>
          <a:xfrm>
            <a:off x="5394960" y="5166360"/>
            <a:ext cx="6263640" cy="32004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The desktop app: pick a window, approve controls, press Start.</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Prototype and use of AI</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What the AI actually does, and what it does not</a:t>
            </a:r>
            <a:endParaRPr lang="en-US" sz="3600" dirty="0"/>
          </a:p>
        </p:txBody>
      </p:sp>
      <p:sp>
        <p:nvSpPr>
          <p:cNvPr id="4" name="Shape 2"/>
          <p:cNvSpPr/>
          <p:nvPr/>
        </p:nvSpPr>
        <p:spPr>
          <a:xfrm>
            <a:off x="548640" y="2011680"/>
            <a:ext cx="5440680" cy="1828800"/>
          </a:xfrm>
          <a:prstGeom prst="roundRect">
            <a:avLst>
              <a:gd name="adj" fmla="val 6000"/>
            </a:avLst>
          </a:prstGeom>
          <a:solidFill>
            <a:srgbClr val="141418"/>
          </a:solidFill>
          <a:ln w="9525">
            <a:solidFill>
              <a:srgbClr val="2A2A31"/>
            </a:solidFill>
            <a:prstDash val="solid"/>
          </a:ln>
        </p:spPr>
      </p:sp>
      <p:sp>
        <p:nvSpPr>
          <p:cNvPr id="5" name="Text 3"/>
          <p:cNvSpPr txBox="1"/>
          <p:nvPr/>
        </p:nvSpPr>
        <p:spPr>
          <a:xfrm>
            <a:off x="822960" y="224028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Plays from pixels</a:t>
            </a:r>
            <a:endParaRPr lang="en-US" sz="1800" dirty="0"/>
          </a:p>
        </p:txBody>
      </p:sp>
      <p:sp>
        <p:nvSpPr>
          <p:cNvPr id="6" name="Text 4"/>
          <p:cNvSpPr txBox="1"/>
          <p:nvPr/>
        </p:nvSpPr>
        <p:spPr>
          <a:xfrm>
            <a:off x="822960" y="269748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A vision model reads each frame and picks keys, mouse look and clicks from the approved controls. Stuck? It turns away and tries something else.</a:t>
            </a:r>
            <a:endParaRPr lang="en-US" sz="1400" dirty="0"/>
          </a:p>
        </p:txBody>
      </p:sp>
      <p:sp>
        <p:nvSpPr>
          <p:cNvPr id="7" name="Shape 5"/>
          <p:cNvSpPr/>
          <p:nvPr/>
        </p:nvSpPr>
        <p:spPr>
          <a:xfrm>
            <a:off x="6172200" y="2011680"/>
            <a:ext cx="5440680" cy="1828800"/>
          </a:xfrm>
          <a:prstGeom prst="roundRect">
            <a:avLst>
              <a:gd name="adj" fmla="val 6000"/>
            </a:avLst>
          </a:prstGeom>
          <a:solidFill>
            <a:srgbClr val="141418"/>
          </a:solidFill>
          <a:ln w="9525">
            <a:solidFill>
              <a:srgbClr val="2A2A31"/>
            </a:solidFill>
            <a:prstDash val="solid"/>
          </a:ln>
        </p:spPr>
      </p:sp>
      <p:sp>
        <p:nvSpPr>
          <p:cNvPr id="8" name="Text 6"/>
          <p:cNvSpPr txBox="1"/>
          <p:nvPr/>
        </p:nvSpPr>
        <p:spPr>
          <a:xfrm>
            <a:off x="6446520" y="224028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Works out the controls</a:t>
            </a:r>
            <a:endParaRPr lang="en-US" sz="1800" dirty="0"/>
          </a:p>
        </p:txBody>
      </p:sp>
      <p:sp>
        <p:nvSpPr>
          <p:cNvPr id="9" name="Text 7"/>
          <p:cNvSpPr txBox="1"/>
          <p:nvPr/>
        </p:nvSpPr>
        <p:spPr>
          <a:xfrm>
            <a:off x="6446520" y="269748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Recognises the game by name or from the screen and picks a layout: first-person, platformer, top-down.</a:t>
            </a:r>
            <a:endParaRPr lang="en-US" sz="1400" dirty="0"/>
          </a:p>
        </p:txBody>
      </p:sp>
      <p:sp>
        <p:nvSpPr>
          <p:cNvPr id="10" name="Shape 8"/>
          <p:cNvSpPr/>
          <p:nvPr/>
        </p:nvSpPr>
        <p:spPr>
          <a:xfrm>
            <a:off x="548640" y="4023360"/>
            <a:ext cx="5440680" cy="1828800"/>
          </a:xfrm>
          <a:prstGeom prst="roundRect">
            <a:avLst>
              <a:gd name="adj" fmla="val 6000"/>
            </a:avLst>
          </a:prstGeom>
          <a:solidFill>
            <a:srgbClr val="141418"/>
          </a:solidFill>
          <a:ln w="9525">
            <a:solidFill>
              <a:srgbClr val="2A2A31"/>
            </a:solidFill>
            <a:prstDash val="solid"/>
          </a:ln>
        </p:spPr>
      </p:sp>
      <p:sp>
        <p:nvSpPr>
          <p:cNvPr id="11" name="Text 9"/>
          <p:cNvSpPr txBox="1"/>
          <p:nvPr/>
        </p:nvSpPr>
        <p:spPr>
          <a:xfrm>
            <a:off x="822960" y="4251960"/>
            <a:ext cx="4937760" cy="41148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Judges with evidence</a:t>
            </a:r>
            <a:endParaRPr lang="en-US" sz="1800" dirty="0"/>
          </a:p>
        </p:txBody>
      </p:sp>
      <p:sp>
        <p:nvSpPr>
          <p:cNvPr id="12" name="Text 10"/>
          <p:cNvSpPr txBox="1"/>
          <p:nvPr/>
        </p:nvSpPr>
        <p:spPr>
          <a:xfrm>
            <a:off x="822960" y="470916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The big AI gets console errors and a contact sheet of the seconds before each incident, decides if it is a bug, and steers the player.</a:t>
            </a:r>
            <a:endParaRPr lang="en-US" sz="1400" dirty="0"/>
          </a:p>
        </p:txBody>
      </p:sp>
      <p:sp>
        <p:nvSpPr>
          <p:cNvPr id="13" name="Shape 11"/>
          <p:cNvSpPr/>
          <p:nvPr/>
        </p:nvSpPr>
        <p:spPr>
          <a:xfrm>
            <a:off x="6172200" y="4023360"/>
            <a:ext cx="5440680" cy="1828800"/>
          </a:xfrm>
          <a:prstGeom prst="roundRect">
            <a:avLst>
              <a:gd name="adj" fmla="val 6000"/>
            </a:avLst>
          </a:prstGeom>
          <a:solidFill>
            <a:srgbClr val="1A0F14"/>
          </a:solidFill>
          <a:ln w="9525">
            <a:solidFill>
              <a:srgbClr val="2A2A31"/>
            </a:solidFill>
            <a:prstDash val="solid"/>
          </a:ln>
        </p:spPr>
      </p:sp>
      <p:sp>
        <p:nvSpPr>
          <p:cNvPr id="14" name="Text 12"/>
          <p:cNvSpPr txBox="1"/>
          <p:nvPr/>
        </p:nvSpPr>
        <p:spPr>
          <a:xfrm>
            <a:off x="6446520" y="4251960"/>
            <a:ext cx="4937760" cy="411480"/>
          </a:xfrm>
          <a:prstGeom prst="rect">
            <a:avLst/>
          </a:prstGeom>
          <a:noFill/>
          <a:ln/>
        </p:spPr>
        <p:txBody>
          <a:bodyPr wrap="square" lIns="0" tIns="0" rIns="0" bIns="0" rtlCol="0" anchor="t"/>
          <a:lstStyle/>
          <a:p>
            <a:pPr indent="0" marL="0">
              <a:buNone/>
            </a:pPr>
            <a:r>
              <a:rPr lang="en-US" sz="1800" b="1" dirty="0">
                <a:solidFill>
                  <a:srgbClr val="FF3D71"/>
                </a:solidFill>
                <a:latin typeface="Arial" pitchFamily="34" charset="0"/>
                <a:ea typeface="Arial" pitchFamily="34" charset="-122"/>
                <a:cs typeface="Arial" pitchFamily="34" charset="-120"/>
              </a:rPr>
              <a:t>Detection is rules, on purpose</a:t>
            </a:r>
            <a:endParaRPr lang="en-US" sz="1800" dirty="0"/>
          </a:p>
        </p:txBody>
      </p:sp>
      <p:sp>
        <p:nvSpPr>
          <p:cNvPr id="15" name="Text 13"/>
          <p:cNvSpPr txBox="1"/>
          <p:nvPr/>
        </p:nvSpPr>
        <p:spPr>
          <a:xfrm>
            <a:off x="6446520" y="4709160"/>
            <a:ext cx="4937760" cy="109728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Crash, hang, console error and soft-lock checks need no model. That is why the clean build had 0 false alarms.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9"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156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168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What a report looks like</a:t>
            </a:r>
            <a:endParaRPr lang="en-US" sz="1300" dirty="0"/>
          </a:p>
        </p:txBody>
      </p:sp>
      <p:sp>
        <p:nvSpPr>
          <p:cNvPr id="3" name="Text 1"/>
          <p:cNvSpPr txBox="1"/>
          <p:nvPr/>
        </p:nvSpPr>
        <p:spPr>
          <a:xfrm>
            <a:off x="548640" y="777240"/>
            <a:ext cx="475488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Proof, not "it broke somewhere"</a:t>
            </a:r>
            <a:endParaRPr lang="en-US" sz="3600" dirty="0"/>
          </a:p>
        </p:txBody>
      </p:sp>
      <p:pic>
        <p:nvPicPr>
          <p:cNvPr id="4" name="Image 0" descr="C:/Users/yeni/Documents/cpp/AI-hakaton/deck/sheet.jpg">    </p:cNvPr>
          <p:cNvPicPr>
            <a:picLocks noChangeAspect="1"/>
          </p:cNvPicPr>
          <p:nvPr/>
        </p:nvPicPr>
        <p:blipFill>
          <a:blip r:embed="rId1"/>
          <a:stretch>
            <a:fillRect/>
          </a:stretch>
        </p:blipFill>
        <p:spPr>
          <a:xfrm>
            <a:off x="5394960" y="1097280"/>
            <a:ext cx="6263640" cy="3785616"/>
          </a:xfrm>
          <a:prstGeom prst="rect">
            <a:avLst/>
          </a:prstGeom>
        </p:spPr>
      </p:pic>
      <p:sp>
        <p:nvSpPr>
          <p:cNvPr id="5" name="Text 2"/>
          <p:cNvSpPr txBox="1"/>
          <p:nvPr/>
        </p:nvSpPr>
        <p:spPr>
          <a:xfrm>
            <a:off x="5394960" y="5029200"/>
            <a:ext cx="6263640" cy="32004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Contact sheet: 9 frames before the crash, 36 KB.</a:t>
            </a:r>
            <a:endParaRPr lang="en-US" sz="1200" dirty="0"/>
          </a:p>
        </p:txBody>
      </p:sp>
      <p:sp>
        <p:nvSpPr>
          <p:cNvPr id="6" name="Text 3"/>
          <p:cNvSpPr txBox="1"/>
          <p:nvPr/>
        </p:nvSpPr>
        <p:spPr>
          <a:xfrm>
            <a:off x="548640" y="210312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Error + stack trace</a:t>
            </a:r>
            <a:endParaRPr lang="en-US" sz="1700" dirty="0"/>
          </a:p>
        </p:txBody>
      </p:sp>
      <p:sp>
        <p:nvSpPr>
          <p:cNvPr id="7" name="Text 4"/>
          <p:cNvSpPr txBox="1"/>
          <p:nvPr/>
        </p:nvSpPr>
        <p:spPr>
          <a:xfrm>
            <a:off x="548640" y="246888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res://main.gd:154</a:t>
            </a:r>
            <a:endParaRPr lang="en-US" sz="1300" dirty="0"/>
          </a:p>
        </p:txBody>
      </p:sp>
      <p:sp>
        <p:nvSpPr>
          <p:cNvPr id="8" name="Text 5"/>
          <p:cNvSpPr txBox="1"/>
          <p:nvPr/>
        </p:nvSpPr>
        <p:spPr>
          <a:xfrm>
            <a:off x="548640" y="297180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Repro steps</a:t>
            </a:r>
            <a:endParaRPr lang="en-US" sz="1700" dirty="0"/>
          </a:p>
        </p:txBody>
      </p:sp>
      <p:sp>
        <p:nvSpPr>
          <p:cNvPr id="9" name="Text 6"/>
          <p:cNvSpPr txBox="1"/>
          <p:nvPr/>
        </p:nvSpPr>
        <p:spPr>
          <a:xfrm>
            <a:off x="548640" y="333756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the recorded inputs that led there</a:t>
            </a:r>
            <a:endParaRPr lang="en-US" sz="1300" dirty="0"/>
          </a:p>
        </p:txBody>
      </p:sp>
      <p:sp>
        <p:nvSpPr>
          <p:cNvPr id="10" name="Text 7"/>
          <p:cNvSpPr txBox="1"/>
          <p:nvPr/>
        </p:nvSpPr>
        <p:spPr>
          <a:xfrm>
            <a:off x="548640" y="384048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Contact sheet</a:t>
            </a:r>
            <a:endParaRPr lang="en-US" sz="1700" dirty="0"/>
          </a:p>
        </p:txBody>
      </p:sp>
      <p:sp>
        <p:nvSpPr>
          <p:cNvPr id="11" name="Text 8"/>
          <p:cNvSpPr txBox="1"/>
          <p:nvPr/>
        </p:nvSpPr>
        <p:spPr>
          <a:xfrm>
            <a:off x="548640" y="420624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36 KB, the seconds before</a:t>
            </a:r>
            <a:endParaRPr lang="en-US" sz="1300" dirty="0"/>
          </a:p>
        </p:txBody>
      </p:sp>
      <p:sp>
        <p:nvSpPr>
          <p:cNvPr id="12" name="Text 9"/>
          <p:cNvSpPr txBox="1"/>
          <p:nvPr/>
        </p:nvSpPr>
        <p:spPr>
          <a:xfrm>
            <a:off x="548640" y="4709160"/>
            <a:ext cx="4389120" cy="36576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Clip</a:t>
            </a:r>
            <a:endParaRPr lang="en-US" sz="1700" dirty="0"/>
          </a:p>
        </p:txBody>
      </p:sp>
      <p:sp>
        <p:nvSpPr>
          <p:cNvPr id="13" name="Text 10"/>
          <p:cNvSpPr txBox="1"/>
          <p:nvPr/>
        </p:nvSpPr>
        <p:spPr>
          <a:xfrm>
            <a:off x="548640" y="5074920"/>
            <a:ext cx="4389120" cy="365760"/>
          </a:xfrm>
          <a:prstGeom prst="rect">
            <a:avLst/>
          </a:prstGeom>
          <a:noFill/>
          <a:ln/>
        </p:spPr>
        <p:txBody>
          <a:bodyPr wrap="square" lIns="0" tIns="0" rIns="0" bIns="0" rtlCol="0" anchor="t"/>
          <a:lstStyle/>
          <a:p>
            <a:pPr indent="0" marL="0">
              <a:buNone/>
            </a:pPr>
            <a:r>
              <a:rPr lang="en-US" sz="1300" dirty="0">
                <a:solidFill>
                  <a:srgbClr val="9A9AA3"/>
                </a:solidFill>
                <a:latin typeface="Courier New" pitchFamily="34" charset="0"/>
                <a:ea typeface="Courier New" pitchFamily="34" charset="-122"/>
                <a:cs typeface="Courier New" pitchFamily="34" charset="-120"/>
              </a:rPr>
              <a:t>480p H.264, 14 KB</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Quality testing</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We broke our own game on purpose</a:t>
            </a:r>
            <a:endParaRPr lang="en-US" sz="3600" dirty="0"/>
          </a:p>
        </p:txBody>
      </p:sp>
      <p:sp>
        <p:nvSpPr>
          <p:cNvPr id="4" name="Text 2"/>
          <p:cNvSpPr txBox="1"/>
          <p:nvPr/>
        </p:nvSpPr>
        <p:spPr>
          <a:xfrm>
            <a:off x="548640" y="1600200"/>
            <a:ext cx="10972800" cy="45720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Five planted bugs plus a clean build. One minute of real play each, three players, 18 runs. Every log, frame and clip is in the repo.</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6583680" cy="914400"/>
        </p:xfrm>
        <a:graphic>
          <a:graphicData uri="http://schemas.openxmlformats.org/drawingml/2006/table">
            <a:tbl>
              <a:tblPr/>
              <a:tblGrid>
                <a:gridCol w="1920240"/>
                <a:gridCol w="1554480"/>
                <a:gridCol w="1554480"/>
                <a:gridCol w="1554480"/>
              </a:tblGrid>
              <a:tr h="475488">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Bug</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Random keys</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Free bot</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200" b="1" dirty="0">
                          <a:solidFill>
                            <a:srgbClr val="9A9AA3"/>
                          </a:solidFill>
                          <a:latin typeface="Courier New" pitchFamily="34" charset="0"/>
                          <a:ea typeface="Courier New" pitchFamily="34" charset="-122"/>
                          <a:cs typeface="Courier New" pitchFamily="34" charset="-120"/>
                        </a:rPr>
                        <a:t>Local AI 3B</a:t>
                      </a:r>
                      <a:endParaRPr lang="en-US" sz="1200" dirty="0">
                        <a:latin typeface="Courier New" charset="0"/>
                        <a:ea typeface="Courier New" charset="0"/>
                        <a:cs typeface="Courier New"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Soft-lock</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34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15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39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Script error</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12.5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Crash</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18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Freeze</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20 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Coin counter</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dirty="0">
                          <a:solidFill>
                            <a:srgbClr val="5E5E66"/>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475488">
                <a:tc>
                  <a:txBody>
                    <a:bodyPr/>
                    <a:lstStyle/>
                    <a:p>
                      <a:pPr indent="0" marL="0">
                        <a:buNone/>
                      </a:pPr>
                      <a:r>
                        <a:rPr lang="en-US" sz="1400" dirty="0">
                          <a:solidFill>
                            <a:srgbClr val="F2F2F0"/>
                          </a:solidFill>
                          <a:latin typeface="Arial" pitchFamily="34" charset="0"/>
                          <a:ea typeface="Arial" pitchFamily="34" charset="-122"/>
                          <a:cs typeface="Arial" pitchFamily="34" charset="-120"/>
                        </a:rPr>
                        <a:t>False alarms</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400" b="1" dirty="0">
                          <a:solidFill>
                            <a:srgbClr val="FF3D7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bl>
          </a:graphicData>
        </a:graphic>
      </p:graphicFrame>
      <p:sp>
        <p:nvSpPr>
          <p:cNvPr id="6" name="Shape 3"/>
          <p:cNvSpPr/>
          <p:nvPr/>
        </p:nvSpPr>
        <p:spPr>
          <a:xfrm>
            <a:off x="7498080" y="2240280"/>
            <a:ext cx="4160520" cy="3328416"/>
          </a:xfrm>
          <a:prstGeom prst="roundRect">
            <a:avLst>
              <a:gd name="adj" fmla="val 3297"/>
            </a:avLst>
          </a:prstGeom>
          <a:solidFill>
            <a:srgbClr val="141418"/>
          </a:solidFill>
          <a:ln w="9525">
            <a:solidFill>
              <a:srgbClr val="2A2A31"/>
            </a:solidFill>
            <a:prstDash val="solid"/>
          </a:ln>
        </p:spPr>
      </p:sp>
      <p:sp>
        <p:nvSpPr>
          <p:cNvPr id="7" name="Text 4"/>
          <p:cNvSpPr txBox="1"/>
          <p:nvPr/>
        </p:nvSpPr>
        <p:spPr>
          <a:xfrm>
            <a:off x="7726680" y="2423160"/>
            <a:ext cx="3749040" cy="365760"/>
          </a:xfrm>
          <a:prstGeom prst="rect">
            <a:avLst/>
          </a:prstGeom>
          <a:noFill/>
          <a:ln/>
        </p:spPr>
        <p:txBody>
          <a:bodyPr wrap="square" lIns="0" tIns="0" rIns="0" bIns="0" rtlCol="0" anchor="t"/>
          <a:lstStyle/>
          <a:p>
            <a:pPr indent="0" marL="0">
              <a:buNone/>
            </a:pPr>
            <a:r>
              <a:rPr lang="en-US" sz="1600" b="1" dirty="0">
                <a:solidFill>
                  <a:srgbClr val="F2F2F0"/>
                </a:solidFill>
                <a:latin typeface="Arial" pitchFamily="34" charset="0"/>
                <a:ea typeface="Arial" pitchFamily="34" charset="-122"/>
                <a:cs typeface="Arial" pitchFamily="34" charset="-120"/>
              </a:rPr>
              <a:t>What broke, and what we did</a:t>
            </a:r>
            <a:endParaRPr lang="en-US" sz="1600" dirty="0"/>
          </a:p>
        </p:txBody>
      </p:sp>
      <p:sp>
        <p:nvSpPr>
          <p:cNvPr id="8" name="Text 5"/>
          <p:cNvSpPr txBox="1"/>
          <p:nvPr/>
        </p:nvSpPr>
        <p:spPr>
          <a:xfrm>
            <a:off x="7726680" y="2880360"/>
            <a:ext cx="374904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PlayerOne froze with a frozen game. Capture now has a 1.5 s deadline.</a:t>
            </a:r>
            <a:endParaRPr lang="en-US" sz="1400" dirty="0"/>
          </a:p>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13 false alarms. It now tries every control before calling it stuck. Down to 0.</a:t>
            </a:r>
            <a:endParaRPr lang="en-US" sz="1400" dirty="0"/>
          </a:p>
          <a:p>
            <a:pPr marL="342900" indent="-342900">
              <a:spcAft>
                <a:spcPts val="800"/>
              </a:spcAft>
              <a:buSzPct val="100000"/>
              <a:buChar char="•"/>
            </a:pPr>
            <a:r>
              <a:rPr lang="en-US" sz="1400" dirty="0">
                <a:solidFill>
                  <a:srgbClr val="9A9AA3"/>
                </a:solidFill>
                <a:latin typeface="Arial" pitchFamily="34" charset="0"/>
                <a:ea typeface="Arial" pitchFamily="34" charset="-122"/>
                <a:cs typeface="Arial" pitchFamily="34" charset="-120"/>
              </a:rPr>
              <a:t>8 unit tests now cover the console classifier and token meter.</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Compared with today</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The same minute of testing, 96% fewer tokens</a:t>
            </a:r>
            <a:endParaRPr lang="en-US" sz="3600" dirty="0"/>
          </a:p>
        </p:txBody>
      </p:sp>
      <p:sp>
        <p:nvSpPr>
          <p:cNvPr id="4" name="Text 2"/>
          <p:cNvSpPr txBox="1"/>
          <p:nvPr/>
        </p:nvSpPr>
        <p:spPr>
          <a:xfrm>
            <a:off x="548640" y="2286000"/>
            <a:ext cx="3566160" cy="1097280"/>
          </a:xfrm>
          <a:prstGeom prst="rect">
            <a:avLst/>
          </a:prstGeom>
          <a:noFill/>
          <a:ln/>
        </p:spPr>
        <p:txBody>
          <a:bodyPr wrap="square" lIns="0" tIns="0" rIns="0" bIns="0" rtlCol="0" anchor="t"/>
          <a:lstStyle/>
          <a:p>
            <a:pPr indent="0" marL="0">
              <a:buNone/>
            </a:pPr>
            <a:r>
              <a:rPr lang="en-US" sz="4800" b="1" dirty="0">
                <a:solidFill>
                  <a:srgbClr val="9A9AA3"/>
                </a:solidFill>
                <a:latin typeface="Courier New" pitchFamily="34" charset="0"/>
                <a:ea typeface="Courier New" pitchFamily="34" charset="-122"/>
                <a:cs typeface="Courier New" pitchFamily="34" charset="-120"/>
              </a:rPr>
              <a:t>70,026</a:t>
            </a:r>
            <a:endParaRPr lang="en-US" sz="4800" dirty="0"/>
          </a:p>
        </p:txBody>
      </p:sp>
      <p:sp>
        <p:nvSpPr>
          <p:cNvPr id="5" name="Text 3"/>
          <p:cNvSpPr txBox="1"/>
          <p:nvPr/>
        </p:nvSpPr>
        <p:spPr>
          <a:xfrm>
            <a:off x="54864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tokens a big AI spends playing one minute itself</a:t>
            </a:r>
            <a:endParaRPr lang="en-US" sz="1500" dirty="0"/>
          </a:p>
        </p:txBody>
      </p:sp>
      <p:sp>
        <p:nvSpPr>
          <p:cNvPr id="6" name="Text 4"/>
          <p:cNvSpPr txBox="1"/>
          <p:nvPr/>
        </p:nvSpPr>
        <p:spPr>
          <a:xfrm>
            <a:off x="54864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about $0.14 per minute</a:t>
            </a:r>
            <a:endParaRPr lang="en-US" sz="1200" dirty="0"/>
          </a:p>
        </p:txBody>
      </p:sp>
      <p:sp>
        <p:nvSpPr>
          <p:cNvPr id="7" name="Text 5"/>
          <p:cNvSpPr txBox="1"/>
          <p:nvPr/>
        </p:nvSpPr>
        <p:spPr>
          <a:xfrm>
            <a:off x="4389120" y="2286000"/>
            <a:ext cx="3566160" cy="1097280"/>
          </a:xfrm>
          <a:prstGeom prst="rect">
            <a:avLst/>
          </a:prstGeom>
          <a:noFill/>
          <a:ln/>
        </p:spPr>
        <p:txBody>
          <a:bodyPr wrap="square" lIns="0" tIns="0" rIns="0" bIns="0" rtlCol="0" anchor="t"/>
          <a:lstStyle/>
          <a:p>
            <a:pPr indent="0" marL="0">
              <a:buNone/>
            </a:pPr>
            <a:r>
              <a:rPr lang="en-US" sz="4800" b="1" dirty="0">
                <a:solidFill>
                  <a:srgbClr val="FF3D71"/>
                </a:solidFill>
                <a:latin typeface="Courier New" pitchFamily="34" charset="0"/>
                <a:ea typeface="Courier New" pitchFamily="34" charset="-122"/>
                <a:cs typeface="Courier New" pitchFamily="34" charset="-120"/>
              </a:rPr>
              <a:t>2,975</a:t>
            </a:r>
            <a:endParaRPr lang="en-US" sz="4800" dirty="0"/>
          </a:p>
        </p:txBody>
      </p:sp>
      <p:sp>
        <p:nvSpPr>
          <p:cNvPr id="8" name="Text 6"/>
          <p:cNvSpPr txBox="1"/>
          <p:nvPr/>
        </p:nvSpPr>
        <p:spPr>
          <a:xfrm>
            <a:off x="438912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tokens it spent judging that minute through PlayerOne</a:t>
            </a:r>
            <a:endParaRPr lang="en-US" sz="1500" dirty="0"/>
          </a:p>
        </p:txBody>
      </p:sp>
      <p:sp>
        <p:nvSpPr>
          <p:cNvPr id="9" name="Text 7"/>
          <p:cNvSpPr txBox="1"/>
          <p:nvPr/>
        </p:nvSpPr>
        <p:spPr>
          <a:xfrm>
            <a:off x="438912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about $0.006 per minute</a:t>
            </a:r>
            <a:endParaRPr lang="en-US" sz="1200" dirty="0"/>
          </a:p>
        </p:txBody>
      </p:sp>
      <p:sp>
        <p:nvSpPr>
          <p:cNvPr id="10" name="Text 8"/>
          <p:cNvSpPr txBox="1"/>
          <p:nvPr/>
        </p:nvSpPr>
        <p:spPr>
          <a:xfrm>
            <a:off x="8229600" y="2286000"/>
            <a:ext cx="3566160" cy="1097280"/>
          </a:xfrm>
          <a:prstGeom prst="rect">
            <a:avLst/>
          </a:prstGeom>
          <a:noFill/>
          <a:ln/>
        </p:spPr>
        <p:txBody>
          <a:bodyPr wrap="square" lIns="0" tIns="0" rIns="0" bIns="0" rtlCol="0" anchor="t"/>
          <a:lstStyle/>
          <a:p>
            <a:pPr indent="0" marL="0">
              <a:buNone/>
            </a:pPr>
            <a:r>
              <a:rPr lang="en-US" sz="4800" b="1" dirty="0">
                <a:solidFill>
                  <a:srgbClr val="F2F2F0"/>
                </a:solidFill>
                <a:latin typeface="Courier New" pitchFamily="34" charset="0"/>
                <a:ea typeface="Courier New" pitchFamily="34" charset="-122"/>
                <a:cs typeface="Courier New" pitchFamily="34" charset="-120"/>
              </a:rPr>
              <a:t>12-20 s</a:t>
            </a:r>
            <a:endParaRPr lang="en-US" sz="4800" dirty="0"/>
          </a:p>
        </p:txBody>
      </p:sp>
      <p:sp>
        <p:nvSpPr>
          <p:cNvPr id="11" name="Text 9"/>
          <p:cNvSpPr txBox="1"/>
          <p:nvPr/>
        </p:nvSpPr>
        <p:spPr>
          <a:xfrm>
            <a:off x="8229600" y="3520440"/>
            <a:ext cx="3383280" cy="914400"/>
          </a:xfrm>
          <a:prstGeom prst="rect">
            <a:avLst/>
          </a:prstGeom>
          <a:noFill/>
          <a:ln/>
        </p:spPr>
        <p:txBody>
          <a:bodyPr wrap="square" lIns="0" tIns="0" rIns="0" bIns="0" rtlCol="0" anchor="t"/>
          <a:lstStyle/>
          <a:p>
            <a:pPr indent="0" marL="0">
              <a:buNone/>
            </a:pPr>
            <a:r>
              <a:rPr lang="en-US" sz="1500" dirty="0">
                <a:solidFill>
                  <a:srgbClr val="F2F2F0"/>
                </a:solidFill>
                <a:latin typeface="Arial" pitchFamily="34" charset="0"/>
                <a:ea typeface="Arial" pitchFamily="34" charset="-122"/>
                <a:cs typeface="Arial" pitchFamily="34" charset="-120"/>
              </a:rPr>
              <a:t>to catch a crash, a hang or a script error, report already written</a:t>
            </a:r>
            <a:endParaRPr lang="en-US" sz="1500" dirty="0"/>
          </a:p>
        </p:txBody>
      </p:sp>
      <p:sp>
        <p:nvSpPr>
          <p:cNvPr id="12" name="Text 10"/>
          <p:cNvSpPr txBox="1"/>
          <p:nvPr/>
        </p:nvSpPr>
        <p:spPr>
          <a:xfrm>
            <a:off x="8229600" y="4526280"/>
            <a:ext cx="3383280" cy="365760"/>
          </a:xfrm>
          <a:prstGeom prst="rect">
            <a:avLst/>
          </a:prstGeom>
          <a:noFill/>
          <a:ln/>
        </p:spPr>
        <p:txBody>
          <a:bodyPr wrap="square" lIns="0" tIns="0" rIns="0" bIns="0" rtlCol="0" anchor="t"/>
          <a:lstStyle/>
          <a:p>
            <a:pPr indent="0" marL="0">
              <a:buNone/>
            </a:pPr>
            <a:r>
              <a:rPr lang="en-US" sz="1200" dirty="0">
                <a:solidFill>
                  <a:srgbClr val="5E5E66"/>
                </a:solidFill>
                <a:latin typeface="Courier New" pitchFamily="34" charset="0"/>
                <a:ea typeface="Courier New" pitchFamily="34" charset="-122"/>
                <a:cs typeface="Courier New" pitchFamily="34" charset="-120"/>
              </a:rPr>
              <a:t>vs a human replaying the level</a:t>
            </a:r>
            <a:endParaRPr lang="en-US" sz="1200" dirty="0"/>
          </a:p>
        </p:txBody>
      </p:sp>
      <p:sp>
        <p:nvSpPr>
          <p:cNvPr id="13" name="Text 11"/>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200" dirty="0">
                <a:solidFill>
                  <a:srgbClr val="5E5E66"/>
                </a:solidFill>
                <a:latin typeface="Arial" pitchFamily="34" charset="0"/>
                <a:ea typeface="Arial" pitchFamily="34" charset="-122"/>
                <a:cs typeface="Arial" pitchFamily="34" charset="-120"/>
              </a:rPr>
              <a:t>Token counts from the meter in each session.json. Dollar figures at Claude Sonnet 5.5 input price, $2 per million tokens.</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Failures we have not fixed</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What PlayerOne still gets wrong</a:t>
            </a:r>
            <a:endParaRPr lang="en-US" sz="3600" dirty="0"/>
          </a:p>
        </p:txBody>
      </p:sp>
      <p:sp>
        <p:nvSpPr>
          <p:cNvPr id="4" name="Text 2"/>
          <p:cNvSpPr txBox="1"/>
          <p:nvPr/>
        </p:nvSpPr>
        <p:spPr>
          <a:xfrm>
            <a:off x="548640" y="1920240"/>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The coin counter bug</a:t>
            </a:r>
            <a:endParaRPr lang="en-US" sz="1800" dirty="0"/>
          </a:p>
        </p:txBody>
      </p:sp>
      <p:sp>
        <p:nvSpPr>
          <p:cNvPr id="5" name="Text 3"/>
          <p:cNvSpPr txBox="1"/>
          <p:nvPr/>
        </p:nvSpPr>
        <p:spPr>
          <a:xfrm>
            <a:off x="4572000" y="1947672"/>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No error, no stall. Only a model that understands the screen can see it. The 3B model did not.</a:t>
            </a:r>
            <a:endParaRPr lang="en-US" sz="1500" dirty="0"/>
          </a:p>
        </p:txBody>
      </p:sp>
      <p:sp>
        <p:nvSpPr>
          <p:cNvPr id="6" name="Text 4"/>
          <p:cNvSpPr txBox="1"/>
          <p:nvPr/>
        </p:nvSpPr>
        <p:spPr>
          <a:xfrm>
            <a:off x="548640" y="2944368"/>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The local AI is slow</a:t>
            </a:r>
            <a:endParaRPr lang="en-US" sz="1800" dirty="0"/>
          </a:p>
        </p:txBody>
      </p:sp>
      <p:sp>
        <p:nvSpPr>
          <p:cNvPr id="7" name="Text 5"/>
          <p:cNvSpPr txBox="1"/>
          <p:nvPr/>
        </p:nvSpPr>
        <p:spPr>
          <a:xfrm>
            <a:off x="4572000" y="2971800"/>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25 to 45 moves a minute against 77 for the bot. The bot is the better driver; the AI is better at judging.</a:t>
            </a:r>
            <a:endParaRPr lang="en-US" sz="1500" dirty="0"/>
          </a:p>
        </p:txBody>
      </p:sp>
      <p:sp>
        <p:nvSpPr>
          <p:cNvPr id="8" name="Text 6"/>
          <p:cNvSpPr txBox="1"/>
          <p:nvPr/>
        </p:nvSpPr>
        <p:spPr>
          <a:xfrm>
            <a:off x="548640" y="3968496"/>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A weak judge writes weak reports</a:t>
            </a:r>
            <a:endParaRPr lang="en-US" sz="1800" dirty="0"/>
          </a:p>
        </p:txBody>
      </p:sp>
      <p:sp>
        <p:nvSpPr>
          <p:cNvPr id="9" name="Text 7"/>
          <p:cNvSpPr txBox="1"/>
          <p:nvPr/>
        </p:nvSpPr>
        <p:spPr>
          <a:xfrm>
            <a:off x="4572000" y="3995928"/>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The 3B judge wrote "press a key". PlayerOne now falls back to the recorded inputs.</a:t>
            </a:r>
            <a:endParaRPr lang="en-US" sz="1500" dirty="0"/>
          </a:p>
        </p:txBody>
      </p:sp>
      <p:sp>
        <p:nvSpPr>
          <p:cNvPr id="10" name="Text 8"/>
          <p:cNvSpPr txBox="1"/>
          <p:nvPr/>
        </p:nvSpPr>
        <p:spPr>
          <a:xfrm>
            <a:off x="548640" y="4992624"/>
            <a:ext cx="3840480" cy="8229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Small sample</a:t>
            </a:r>
            <a:endParaRPr lang="en-US" sz="1800" dirty="0"/>
          </a:p>
        </p:txBody>
      </p:sp>
      <p:sp>
        <p:nvSpPr>
          <p:cNvPr id="11" name="Text 9"/>
          <p:cNvSpPr txBox="1"/>
          <p:nvPr/>
        </p:nvSpPr>
        <p:spPr>
          <a:xfrm>
            <a:off x="4572000" y="5020056"/>
            <a:ext cx="7040880" cy="822960"/>
          </a:xfrm>
          <a:prstGeom prst="rect">
            <a:avLst/>
          </a:prstGeom>
          <a:noFill/>
          <a:ln/>
        </p:spPr>
        <p:txBody>
          <a:bodyPr wrap="square" lIns="0" tIns="0" rIns="0" bIns="0" rtlCol="0" anchor="t"/>
          <a:lstStyle/>
          <a:p>
            <a:pPr indent="0" marL="0">
              <a:buNone/>
            </a:pPr>
            <a:r>
              <a:rPr lang="en-US" sz="1500" dirty="0">
                <a:solidFill>
                  <a:srgbClr val="9A9AA3"/>
                </a:solidFill>
                <a:latin typeface="Arial" pitchFamily="34" charset="0"/>
                <a:ea typeface="Arial" pitchFamily="34" charset="-122"/>
                <a:cs typeface="Arial" pitchFamily="34" charset="-120"/>
              </a:rPr>
              <a:t>One run per bug, on bugs we planted ourselves. Next: real third-party games.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7"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Competitor analysis</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Every other way to test a game costs time, code or tokens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103120"/>
                <a:gridCol w="2651760"/>
                <a:gridCol w="1737360"/>
                <a:gridCol w="1371600"/>
                <a:gridCol w="1188720"/>
                <a:gridCol w="2011680"/>
              </a:tblGrid>
              <a:tr h="566928">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Approach</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Examples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Setup</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Exact engine errors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Every build</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Weak spot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r>
              <a:tr h="566928">
                <a:tc>
                  <a:txBody>
                    <a:bodyPr/>
                    <a:lstStyle/>
                    <a:p>
                      <a:pPr indent="0" marL="0">
                        <a:buNone/>
                      </a:pPr>
                      <a:r>
                        <a:rPr lang="en-US" sz="1300" dirty="0">
                          <a:solidFill>
                            <a:srgbClr val="F2F2F0"/>
                          </a:solidFill>
                          <a:latin typeface="Arial" pitchFamily="34" charset="0"/>
                          <a:ea typeface="Arial" pitchFamily="34" charset="-122"/>
                          <a:cs typeface="Arial" pitchFamily="34" charset="-120"/>
                        </a:rPr>
                        <a:t>Manual QA</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the dev, friends, outsourced QA studios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by hand</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slow, paid per hour</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566928">
                <a:tc>
                  <a:txBody>
                    <a:bodyPr/>
                    <a:lstStyle/>
                    <a:p>
                      <a:pPr indent="0" marL="0">
                        <a:buNone/>
                      </a:pPr>
                      <a:r>
                        <a:rPr lang="en-US" sz="1300" dirty="0">
                          <a:solidFill>
                            <a:srgbClr val="F2F2F0"/>
                          </a:solidFill>
                          <a:latin typeface="Arial" pitchFamily="34" charset="0"/>
                          <a:ea typeface="Arial" pitchFamily="34" charset="-122"/>
                          <a:cs typeface="Arial" pitchFamily="34" charset="-120"/>
                        </a:rPr>
                        <a:t>Scripted test automation</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GameDriver, Unity Test Framework, Godot GUT</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SDK and written tests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only finds what you scripted</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566928">
                <a:tc>
                  <a:txBody>
                    <a:bodyPr/>
                    <a:lstStyle/>
                    <a:p>
                      <a:pPr indent="0" marL="0">
                        <a:buNone/>
                      </a:pPr>
                      <a:r>
                        <a:rPr lang="en-US" sz="1300" dirty="0">
                          <a:solidFill>
                            <a:srgbClr val="F2F2F0"/>
                          </a:solidFill>
                          <a:latin typeface="Arial" pitchFamily="34" charset="0"/>
                          <a:ea typeface="Arial" pitchFamily="34" charset="-122"/>
                          <a:cs typeface="Arial" pitchFamily="34" charset="-120"/>
                        </a:rPr>
                        <a:t>AI game-testing platforms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modl.ai and similar</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engine integration</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built for bigger studios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566928">
                <a:tc>
                  <a:txBody>
                    <a:bodyPr/>
                    <a:lstStyle/>
                    <a:p>
                      <a:pPr indent="0" marL="0">
                        <a:buNone/>
                      </a:pPr>
                      <a:r>
                        <a:rPr lang="en-US" sz="1300" dirty="0">
                          <a:solidFill>
                            <a:srgbClr val="F2F2F0"/>
                          </a:solidFill>
                          <a:latin typeface="Arial" pitchFamily="34" charset="0"/>
                          <a:ea typeface="Arial" pitchFamily="34" charset="-122"/>
                          <a:cs typeface="Arial" pitchFamily="34" charset="-120"/>
                        </a:rPr>
                        <a:t>Computer-use agents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Claude, OpenAI computer use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too costly</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5E5E66"/>
                          </a:solidFill>
                          <a:latin typeface="Arial" pitchFamily="34" charset="0"/>
                          <a:ea typeface="Arial" pitchFamily="34" charset="-122"/>
                          <a:cs typeface="Arial" pitchFamily="34" charset="-120"/>
                        </a:rPr>
                        <a:t>70k tokens a minute, no console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566928">
                <a:tc>
                  <a:txBody>
                    <a:bodyPr/>
                    <a:lstStyle/>
                    <a:p>
                      <a:pPr indent="0" marL="0">
                        <a:buNone/>
                      </a:pPr>
                      <a:r>
                        <a:rPr lang="en-US" sz="1300" b="1" dirty="0">
                          <a:solidFill>
                            <a:srgbClr val="FF3D71"/>
                          </a:solidFill>
                          <a:latin typeface="Arial" pitchFamily="34" charset="0"/>
                          <a:ea typeface="Arial" pitchFamily="34" charset="-122"/>
                          <a:cs typeface="Arial" pitchFamily="34" charset="-120"/>
                        </a:rPr>
                        <a:t>PlayerOne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any game window</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none, no SDK</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c>
                  <a:txBody>
                    <a:bodyPr/>
                    <a:lstStyle/>
                    <a:p>
                      <a:pPr indent="0" marL="0">
                        <a:buNone/>
                      </a:pPr>
                      <a:r>
                        <a:rPr lang="en-US" sz="1300" b="1" dirty="0">
                          <a:solidFill>
                            <a:srgbClr val="FF3D71"/>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3B model misses visual bugs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A0F14"/>
                    </a:solidFill>
                  </a:tcPr>
                </a:tc>
              </a:tr>
            </a:tbl>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36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Market and business analysis</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Free brings them in. Teams and CI pay.</a:t>
            </a:r>
            <a:endParaRPr lang="en-US" sz="3600" dirty="0"/>
          </a:p>
        </p:txBody>
      </p:sp>
      <p:sp>
        <p:nvSpPr>
          <p:cNvPr id="4" name="Shape 2"/>
          <p:cNvSpPr/>
          <p:nvPr/>
        </p:nvSpPr>
        <p:spPr>
          <a:xfrm>
            <a:off x="548640" y="2011680"/>
            <a:ext cx="4846320" cy="1737360"/>
          </a:xfrm>
          <a:prstGeom prst="roundRect">
            <a:avLst>
              <a:gd name="adj" fmla="val 6316"/>
            </a:avLst>
          </a:prstGeom>
          <a:solidFill>
            <a:srgbClr val="141418"/>
          </a:solidFill>
          <a:ln w="9525">
            <a:solidFill>
              <a:srgbClr val="2A2A31"/>
            </a:solidFill>
            <a:prstDash val="solid"/>
          </a:ln>
        </p:spPr>
      </p:sp>
      <p:sp>
        <p:nvSpPr>
          <p:cNvPr id="5" name="Text 3"/>
          <p:cNvSpPr txBox="1"/>
          <p:nvPr/>
        </p:nvSpPr>
        <p:spPr>
          <a:xfrm>
            <a:off x="777240" y="2194560"/>
            <a:ext cx="4389120" cy="27432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Who we sell to</a:t>
            </a:r>
            <a:endParaRPr lang="en-US" sz="1200" dirty="0"/>
          </a:p>
        </p:txBody>
      </p:sp>
      <p:sp>
        <p:nvSpPr>
          <p:cNvPr id="6" name="Text 4"/>
          <p:cNvSpPr txBox="1"/>
          <p:nvPr/>
        </p:nvSpPr>
        <p:spPr>
          <a:xfrm>
            <a:off x="777240" y="2514600"/>
            <a:ext cx="4434840" cy="118872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Indie and small studios of 1 to 15 people shipping PC games in Godot, Unity and Unreal. Thousands of new PC games reach Steam every year, most from small teams.</a:t>
            </a:r>
            <a:endParaRPr lang="en-US" sz="1400" dirty="0"/>
          </a:p>
        </p:txBody>
      </p:sp>
      <p:sp>
        <p:nvSpPr>
          <p:cNvPr id="7" name="Shape 5"/>
          <p:cNvSpPr/>
          <p:nvPr/>
        </p:nvSpPr>
        <p:spPr>
          <a:xfrm>
            <a:off x="548640" y="3931920"/>
            <a:ext cx="4846320" cy="1554480"/>
          </a:xfrm>
          <a:prstGeom prst="roundRect">
            <a:avLst>
              <a:gd name="adj" fmla="val 7059"/>
            </a:avLst>
          </a:prstGeom>
          <a:solidFill>
            <a:srgbClr val="141418"/>
          </a:solidFill>
          <a:ln w="9525">
            <a:solidFill>
              <a:srgbClr val="2A2A31"/>
            </a:solidFill>
            <a:prstDash val="solid"/>
          </a:ln>
        </p:spPr>
      </p:sp>
      <p:sp>
        <p:nvSpPr>
          <p:cNvPr id="8" name="Text 6"/>
          <p:cNvSpPr txBox="1"/>
          <p:nvPr/>
        </p:nvSpPr>
        <p:spPr>
          <a:xfrm>
            <a:off x="777240" y="4114800"/>
            <a:ext cx="4389120" cy="27432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How we reach them</a:t>
            </a:r>
            <a:endParaRPr lang="en-US" sz="1200" dirty="0"/>
          </a:p>
        </p:txBody>
      </p:sp>
      <p:sp>
        <p:nvSpPr>
          <p:cNvPr id="9" name="Text 7"/>
          <p:cNvSpPr txBox="1"/>
          <p:nvPr/>
        </p:nvSpPr>
        <p:spPr>
          <a:xfrm>
            <a:off x="777240" y="4434840"/>
            <a:ext cx="4434840" cy="100584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Godot and Unity communities, itch.io and game jams, then Baku studios first. Every report says "found by PlayerOne".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60720" y="2011680"/>
          <a:ext cx="5897880" cy="914400"/>
        </p:xfrm>
        <a:graphic>
          <a:graphicData uri="http://schemas.openxmlformats.org/drawingml/2006/table">
            <a:tbl>
              <a:tblPr/>
              <a:tblGrid>
                <a:gridCol w="1143000"/>
                <a:gridCol w="2926080"/>
                <a:gridCol w="1828800"/>
              </a:tblGrid>
              <a:tr h="640080">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Plan</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Who pays for what</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c>
                  <a:txBody>
                    <a:bodyPr/>
                    <a:lstStyle/>
                    <a:p>
                      <a:pPr indent="0" marL="0">
                        <a:buNone/>
                      </a:pPr>
                      <a:r>
                        <a:rPr lang="en-US" sz="1100" b="1" dirty="0">
                          <a:solidFill>
                            <a:srgbClr val="9A9AA3"/>
                          </a:solidFill>
                          <a:latin typeface="Courier New" pitchFamily="34" charset="0"/>
                          <a:ea typeface="Courier New" pitchFamily="34" charset="-122"/>
                          <a:cs typeface="Courier New" pitchFamily="34" charset="-120"/>
                        </a:rPr>
                        <a:t>Our cost to serve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8181C"/>
                    </a:solidFill>
                  </a:tcPr>
                </a:tc>
              </a:tr>
              <a:tr h="640080">
                <a:tc>
                  <a:txBody>
                    <a:bodyPr/>
                    <a:lstStyle/>
                    <a:p>
                      <a:pPr indent="0" marL="0">
                        <a:buNone/>
                      </a:pPr>
                      <a:r>
                        <a:rPr lang="en-US" sz="1300" b="1" dirty="0">
                          <a:solidFill>
                            <a:srgbClr val="FF3D71"/>
                          </a:solidFill>
                          <a:latin typeface="Courier New" pitchFamily="34" charset="0"/>
                          <a:ea typeface="Courier New" pitchFamily="34" charset="-122"/>
                          <a:cs typeface="Courier New" pitchFamily="34" charset="-120"/>
                        </a:rPr>
                        <a:t>Free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Local AI, crash and console capture</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$0, runs on their PC</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640080">
                <a:tc>
                  <a:txBody>
                    <a:bodyPr/>
                    <a:lstStyle/>
                    <a:p>
                      <a:pPr indent="0" marL="0">
                        <a:buNone/>
                      </a:pPr>
                      <a:r>
                        <a:rPr lang="en-US" sz="1300" b="1" dirty="0">
                          <a:solidFill>
                            <a:srgbClr val="FF3D71"/>
                          </a:solidFill>
                          <a:latin typeface="Courier New" pitchFamily="34" charset="0"/>
                          <a:ea typeface="Courier New" pitchFamily="34" charset="-122"/>
                          <a:cs typeface="Courier New" pitchFamily="34" charset="-120"/>
                        </a:rPr>
                        <a:t>Connect</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Monthly. Their own Claude, Codex or Gemini key judges</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near $0, they pay the model</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640080">
                <a:tc>
                  <a:txBody>
                    <a:bodyPr/>
                    <a:lstStyle/>
                    <a:p>
                      <a:pPr indent="0" marL="0">
                        <a:buNone/>
                      </a:pPr>
                      <a:r>
                        <a:rPr lang="en-US" sz="1300" b="1" dirty="0">
                          <a:solidFill>
                            <a:srgbClr val="FF3D71"/>
                          </a:solidFill>
                          <a:latin typeface="Courier New" pitchFamily="34" charset="0"/>
                          <a:ea typeface="Courier New" pitchFamily="34" charset="-122"/>
                          <a:cs typeface="Courier New" pitchFamily="34" charset="-120"/>
                        </a:rPr>
                        <a:t>Studio</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Per seat. Shared reports, a playtest in CI after every build</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storage and sync</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r h="640080">
                <a:tc>
                  <a:txBody>
                    <a:bodyPr/>
                    <a:lstStyle/>
                    <a:p>
                      <a:pPr indent="0" marL="0">
                        <a:buNone/>
                      </a:pPr>
                      <a:r>
                        <a:rPr lang="en-US" sz="1300" b="1" dirty="0">
                          <a:solidFill>
                            <a:srgbClr val="FF3D71"/>
                          </a:solidFill>
                          <a:latin typeface="Courier New" pitchFamily="34" charset="0"/>
                          <a:ea typeface="Courier New" pitchFamily="34" charset="-122"/>
                          <a:cs typeface="Courier New" pitchFamily="34" charset="-120"/>
                        </a:rPr>
                        <a:t>Credits</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Our hosted judge for people with no key</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c>
                  <a:txBody>
                    <a:bodyPr/>
                    <a:lstStyle/>
                    <a:p>
                      <a:pPr indent="0" marL="0">
                        <a:buNone/>
                      </a:pPr>
                      <a:r>
                        <a:rPr lang="en-US" sz="1300" dirty="0">
                          <a:solidFill>
                            <a:srgbClr val="F2F2F0"/>
                          </a:solidFill>
                          <a:latin typeface="Arial" pitchFamily="34" charset="0"/>
                          <a:ea typeface="Arial" pitchFamily="34" charset="-122"/>
                          <a:cs typeface="Arial" pitchFamily="34" charset="-120"/>
                        </a:rPr>
                        <a:t>about $0.36 per hour of play</a:t>
                      </a:r>
                      <a:endParaRPr lang="en-US" sz="1300" dirty="0">
                        <a:latin typeface="Arial" charset="0"/>
                        <a:ea typeface="Arial" charset="0"/>
                        <a:cs typeface="Arial" charset="0"/>
                      </a:endParaRPr>
                    </a:p>
                  </a:txBody>
                  <a:tcPr marL="91440" marR="91440" marT="45720" marB="45720" anchor="ctr">
                    <a:lnL w="6350" cap="flat" cmpd="sng" algn="ctr">
                      <a:solidFill>
                        <a:srgbClr val="2A2A31"/>
                      </a:solidFill>
                      <a:prstDash val="solid"/>
                      <a:round/>
                      <a:headEnd type="none" w="med" len="med"/>
                      <a:tailEnd type="none" w="med" len="med"/>
                    </a:lnL>
                    <a:lnR w="6350" cap="flat" cmpd="sng" algn="ctr">
                      <a:solidFill>
                        <a:srgbClr val="2A2A31"/>
                      </a:solidFill>
                      <a:prstDash val="solid"/>
                      <a:round/>
                      <a:headEnd type="none" w="med" len="med"/>
                      <a:tailEnd type="none" w="med" len="med"/>
                    </a:lnR>
                    <a:lnT w="6350" cap="flat" cmpd="sng" algn="ctr">
                      <a:solidFill>
                        <a:srgbClr val="2A2A31"/>
                      </a:solidFill>
                      <a:prstDash val="solid"/>
                      <a:round/>
                      <a:headEnd type="none" w="med" len="med"/>
                      <a:tailEnd type="none" w="med" len="med"/>
                    </a:lnT>
                    <a:lnB w="6350" cap="flat" cmpd="sng" algn="ctr">
                      <a:solidFill>
                        <a:srgbClr val="2A2A31"/>
                      </a:solidFill>
                      <a:prstDash val="solid"/>
                      <a:round/>
                      <a:headEnd type="none" w="med" len="med"/>
                      <a:tailEnd type="none" w="med" len="med"/>
                    </a:lnB>
                    <a:solidFill>
                      <a:srgbClr val="141418"/>
                    </a:solidFill>
                  </a:tcPr>
                </a:tc>
              </a:tr>
            </a:tbl>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nodeType="withEffect">
                                  <p:stCondLst>
                                    <p:cond delay="108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Feasibility</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Runs today, on hardware people already own</a:t>
            </a:r>
            <a:endParaRPr lang="en-US" sz="3600" dirty="0"/>
          </a:p>
        </p:txBody>
      </p:sp>
      <p:sp>
        <p:nvSpPr>
          <p:cNvPr id="4" name="Shape 2"/>
          <p:cNvSpPr/>
          <p:nvPr/>
        </p:nvSpPr>
        <p:spPr>
          <a:xfrm>
            <a:off x="548640" y="2011680"/>
            <a:ext cx="5577840" cy="1097280"/>
          </a:xfrm>
          <a:prstGeom prst="roundRect">
            <a:avLst>
              <a:gd name="adj" fmla="val 10000"/>
            </a:avLst>
          </a:prstGeom>
          <a:solidFill>
            <a:srgbClr val="141418"/>
          </a:solidFill>
          <a:ln w="9525">
            <a:solidFill>
              <a:srgbClr val="2A2A31"/>
            </a:solidFill>
            <a:prstDash val="solid"/>
          </a:ln>
        </p:spPr>
      </p:sp>
      <p:sp>
        <p:nvSpPr>
          <p:cNvPr id="5" name="Text 3"/>
          <p:cNvSpPr txBox="1"/>
          <p:nvPr/>
        </p:nvSpPr>
        <p:spPr>
          <a:xfrm>
            <a:off x="777240" y="217627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Data needed</a:t>
            </a:r>
            <a:endParaRPr lang="en-US" sz="1200" dirty="0"/>
          </a:p>
        </p:txBody>
      </p:sp>
      <p:sp>
        <p:nvSpPr>
          <p:cNvPr id="6" name="Text 4"/>
          <p:cNvSpPr txBox="1"/>
          <p:nvPr/>
        </p:nvSpPr>
        <p:spPr>
          <a:xfrm>
            <a:off x="777240" y="248716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None. No training data and no game source code. It works from the screen and the engine console.</a:t>
            </a:r>
            <a:endParaRPr lang="en-US" sz="1400" dirty="0"/>
          </a:p>
        </p:txBody>
      </p:sp>
      <p:sp>
        <p:nvSpPr>
          <p:cNvPr id="7" name="Shape 5"/>
          <p:cNvSpPr/>
          <p:nvPr/>
        </p:nvSpPr>
        <p:spPr>
          <a:xfrm>
            <a:off x="548640" y="3291840"/>
            <a:ext cx="5577840" cy="1097280"/>
          </a:xfrm>
          <a:prstGeom prst="roundRect">
            <a:avLst>
              <a:gd name="adj" fmla="val 10000"/>
            </a:avLst>
          </a:prstGeom>
          <a:solidFill>
            <a:srgbClr val="141418"/>
          </a:solidFill>
          <a:ln w="9525">
            <a:solidFill>
              <a:srgbClr val="2A2A31"/>
            </a:solidFill>
            <a:prstDash val="solid"/>
          </a:ln>
        </p:spPr>
      </p:sp>
      <p:sp>
        <p:nvSpPr>
          <p:cNvPr id="8" name="Text 6"/>
          <p:cNvSpPr txBox="1"/>
          <p:nvPr/>
        </p:nvSpPr>
        <p:spPr>
          <a:xfrm>
            <a:off x="777240" y="345643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Running cost</a:t>
            </a:r>
            <a:endParaRPr lang="en-US" sz="1200" dirty="0"/>
          </a:p>
        </p:txBody>
      </p:sp>
      <p:sp>
        <p:nvSpPr>
          <p:cNvPr id="9" name="Text 7"/>
          <p:cNvSpPr txBox="1"/>
          <p:nvPr/>
        </p:nvSpPr>
        <p:spPr>
          <a:xfrm>
            <a:off x="777240" y="376732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Free on the user's PC. With a cloud judge, about $0.36 per hour of play instead of $8.40.</a:t>
            </a:r>
            <a:endParaRPr lang="en-US" sz="1400" dirty="0"/>
          </a:p>
        </p:txBody>
      </p:sp>
      <p:sp>
        <p:nvSpPr>
          <p:cNvPr id="10" name="Shape 8"/>
          <p:cNvSpPr/>
          <p:nvPr/>
        </p:nvSpPr>
        <p:spPr>
          <a:xfrm>
            <a:off x="548640" y="4572000"/>
            <a:ext cx="5577840" cy="1097280"/>
          </a:xfrm>
          <a:prstGeom prst="roundRect">
            <a:avLst>
              <a:gd name="adj" fmla="val 10000"/>
            </a:avLst>
          </a:prstGeom>
          <a:solidFill>
            <a:srgbClr val="141418"/>
          </a:solidFill>
          <a:ln w="9525">
            <a:solidFill>
              <a:srgbClr val="2A2A31"/>
            </a:solidFill>
            <a:prstDash val="solid"/>
          </a:ln>
        </p:spPr>
      </p:sp>
      <p:sp>
        <p:nvSpPr>
          <p:cNvPr id="11" name="Text 9"/>
          <p:cNvSpPr txBox="1"/>
          <p:nvPr/>
        </p:nvSpPr>
        <p:spPr>
          <a:xfrm>
            <a:off x="777240" y="4736592"/>
            <a:ext cx="51206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Already live</a:t>
            </a:r>
            <a:endParaRPr lang="en-US" sz="1200" dirty="0"/>
          </a:p>
        </p:txBody>
      </p:sp>
      <p:sp>
        <p:nvSpPr>
          <p:cNvPr id="12" name="Text 10"/>
          <p:cNvSpPr txBox="1"/>
          <p:nvPr/>
        </p:nvSpPr>
        <p:spPr>
          <a:xfrm>
            <a:off x="777240" y="5047488"/>
            <a:ext cx="5120640" cy="594360"/>
          </a:xfrm>
          <a:prstGeom prst="rect">
            <a:avLst/>
          </a:prstGeom>
          <a:noFill/>
          <a:ln/>
        </p:spPr>
        <p:txBody>
          <a:bodyPr wrap="square" lIns="0" tIns="0" rIns="0" bIns="0" rtlCol="0" anchor="t"/>
          <a:lstStyle/>
          <a:p>
            <a:pPr indent="0" marL="0">
              <a:buNone/>
            </a:pPr>
            <a:r>
              <a:rPr lang="en-US" sz="1400" dirty="0">
                <a:solidFill>
                  <a:srgbClr val="F2F2F0"/>
                </a:solidFill>
                <a:latin typeface="Arial" pitchFamily="34" charset="0"/>
                <a:ea typeface="Arial" pitchFamily="34" charset="-122"/>
                <a:cs typeface="Arial" pitchFamily="34" charset="-120"/>
              </a:rPr>
              <a:t>Accounts, plans and usage metering on Supabase. Stripe webhook. Installers for 5 targets.</a:t>
            </a:r>
            <a:endParaRPr lang="en-US" sz="1400" dirty="0"/>
          </a:p>
        </p:txBody>
      </p:sp>
      <p:sp>
        <p:nvSpPr>
          <p:cNvPr id="13" name="Text 11"/>
          <p:cNvSpPr txBox="1"/>
          <p:nvPr/>
        </p:nvSpPr>
        <p:spPr>
          <a:xfrm>
            <a:off x="6583680" y="2011680"/>
            <a:ext cx="4572000" cy="3657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Who pays</a:t>
            </a:r>
            <a:endParaRPr lang="en-US" sz="1800" dirty="0"/>
          </a:p>
        </p:txBody>
      </p:sp>
      <p:sp>
        <p:nvSpPr>
          <p:cNvPr id="14" name="Text 12"/>
          <p:cNvSpPr txBox="1"/>
          <p:nvPr/>
        </p:nvSpPr>
        <p:spPr>
          <a:xfrm>
            <a:off x="6583680" y="251460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Free</a:t>
            </a:r>
            <a:endParaRPr lang="en-US" sz="1500" dirty="0"/>
          </a:p>
        </p:txBody>
      </p:sp>
      <p:sp>
        <p:nvSpPr>
          <p:cNvPr id="15" name="Text 13"/>
          <p:cNvSpPr txBox="1"/>
          <p:nvPr/>
        </p:nvSpPr>
        <p:spPr>
          <a:xfrm>
            <a:off x="8092440" y="251460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Local AI, crash and console capture. Costs us nothing to serve.</a:t>
            </a:r>
            <a:endParaRPr lang="en-US" sz="1400" dirty="0"/>
          </a:p>
        </p:txBody>
      </p:sp>
      <p:sp>
        <p:nvSpPr>
          <p:cNvPr id="16" name="Text 14"/>
          <p:cNvSpPr txBox="1"/>
          <p:nvPr/>
        </p:nvSpPr>
        <p:spPr>
          <a:xfrm>
            <a:off x="6583680" y="338328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Connect</a:t>
            </a:r>
            <a:endParaRPr lang="en-US" sz="1500" dirty="0"/>
          </a:p>
        </p:txBody>
      </p:sp>
      <p:sp>
        <p:nvSpPr>
          <p:cNvPr id="17" name="Text 15"/>
          <p:cNvSpPr txBox="1"/>
          <p:nvPr/>
        </p:nvSpPr>
        <p:spPr>
          <a:xfrm>
            <a:off x="8092440" y="338328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Monthly. Their own Claude, Codex or Gemini key judges.</a:t>
            </a:r>
            <a:endParaRPr lang="en-US" sz="1400" dirty="0"/>
          </a:p>
        </p:txBody>
      </p:sp>
      <p:sp>
        <p:nvSpPr>
          <p:cNvPr id="18" name="Text 16"/>
          <p:cNvSpPr txBox="1"/>
          <p:nvPr/>
        </p:nvSpPr>
        <p:spPr>
          <a:xfrm>
            <a:off x="6583680" y="425196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Studio</a:t>
            </a:r>
            <a:endParaRPr lang="en-US" sz="1500" dirty="0"/>
          </a:p>
        </p:txBody>
      </p:sp>
      <p:sp>
        <p:nvSpPr>
          <p:cNvPr id="19" name="Text 17"/>
          <p:cNvSpPr txBox="1"/>
          <p:nvPr/>
        </p:nvSpPr>
        <p:spPr>
          <a:xfrm>
            <a:off x="8092440" y="425196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Per seat. Shared reports, a playtest in CI after every build.</a:t>
            </a:r>
            <a:endParaRPr lang="en-US" sz="1400" dirty="0"/>
          </a:p>
        </p:txBody>
      </p:sp>
      <p:sp>
        <p:nvSpPr>
          <p:cNvPr id="20" name="Text 18"/>
          <p:cNvSpPr txBox="1"/>
          <p:nvPr/>
        </p:nvSpPr>
        <p:spPr>
          <a:xfrm>
            <a:off x="6583680" y="5120640"/>
            <a:ext cx="1463040" cy="365760"/>
          </a:xfrm>
          <a:prstGeom prst="rect">
            <a:avLst/>
          </a:prstGeom>
          <a:noFill/>
          <a:ln/>
        </p:spPr>
        <p:txBody>
          <a:bodyPr wrap="square" lIns="0" tIns="0" rIns="0" bIns="0" rtlCol="0" anchor="t"/>
          <a:lstStyle/>
          <a:p>
            <a:pPr indent="0" marL="0">
              <a:buNone/>
            </a:pPr>
            <a:r>
              <a:rPr lang="en-US" sz="1500" b="1" dirty="0">
                <a:solidFill>
                  <a:srgbClr val="FF3D71"/>
                </a:solidFill>
                <a:latin typeface="Courier New" pitchFamily="34" charset="0"/>
                <a:ea typeface="Courier New" pitchFamily="34" charset="-122"/>
                <a:cs typeface="Courier New" pitchFamily="34" charset="-120"/>
              </a:rPr>
              <a:t>Credits</a:t>
            </a:r>
            <a:endParaRPr lang="en-US" sz="1500" dirty="0"/>
          </a:p>
        </p:txBody>
      </p:sp>
      <p:sp>
        <p:nvSpPr>
          <p:cNvPr id="21" name="Text 19"/>
          <p:cNvSpPr txBox="1"/>
          <p:nvPr/>
        </p:nvSpPr>
        <p:spPr>
          <a:xfrm>
            <a:off x="8092440" y="5120640"/>
            <a:ext cx="3566160" cy="73152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Our hosted judge, priced on the tokens we meter.</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7"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1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13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144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156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168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18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nodeType="withEffect">
                                  <p:stCondLst>
                                    <p:cond delay="192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204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216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228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nodeType="withEffect">
                                  <p:stCondLst>
                                    <p:cond delay="240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300" dirty="0">
                <a:solidFill>
                  <a:srgbClr val="FF3D71"/>
                </a:solidFill>
                <a:latin typeface="Courier New" pitchFamily="34" charset="0"/>
                <a:ea typeface="Courier New" pitchFamily="34" charset="-122"/>
                <a:cs typeface="Courier New" pitchFamily="34" charset="-120"/>
              </a:rPr>
              <a:t>Originality and next step</a:t>
            </a:r>
            <a:endParaRPr lang="en-US" sz="1300" dirty="0"/>
          </a:p>
        </p:txBody>
      </p:sp>
      <p:sp>
        <p:nvSpPr>
          <p:cNvPr id="3" name="Text 1"/>
          <p:cNvSpPr txBox="1"/>
          <p:nvPr/>
        </p:nvSpPr>
        <p:spPr>
          <a:xfrm>
            <a:off x="548640" y="777240"/>
            <a:ext cx="10972800" cy="1005840"/>
          </a:xfrm>
          <a:prstGeom prst="rect">
            <a:avLst/>
          </a:prstGeom>
          <a:noFill/>
          <a:ln/>
        </p:spPr>
        <p:txBody>
          <a:bodyPr wrap="square" lIns="0" tIns="0" rIns="0" bIns="0" rtlCol="0" anchor="t"/>
          <a:lstStyle/>
          <a:p>
            <a:pPr indent="0" marL="0">
              <a:buNone/>
            </a:pPr>
            <a:r>
              <a:rPr lang="en-US" sz="3600" b="1" dirty="0">
                <a:solidFill>
                  <a:srgbClr val="F2F2F0"/>
                </a:solidFill>
                <a:latin typeface="Arial" pitchFamily="34" charset="0"/>
                <a:ea typeface="Arial" pitchFamily="34" charset="-122"/>
                <a:cs typeface="Arial" pitchFamily="34" charset="-120"/>
              </a:rPr>
              <a:t>No SDK. No engine plugin. Any game on screen.</a:t>
            </a:r>
            <a:endParaRPr lang="en-US" sz="3600" dirty="0"/>
          </a:p>
        </p:txBody>
      </p:sp>
      <p:sp>
        <p:nvSpPr>
          <p:cNvPr id="4" name="Text 2"/>
          <p:cNvSpPr txBox="1"/>
          <p:nvPr/>
        </p:nvSpPr>
        <p:spPr>
          <a:xfrm>
            <a:off x="548640" y="1920240"/>
            <a:ext cx="6400800" cy="1463040"/>
          </a:xfrm>
          <a:prstGeom prst="rect">
            <a:avLst/>
          </a:prstGeom>
          <a:noFill/>
          <a:ln/>
        </p:spPr>
        <p:txBody>
          <a:bodyPr wrap="square" lIns="0" tIns="0" rIns="0" bIns="0" rtlCol="0" anchor="t"/>
          <a:lstStyle/>
          <a:p>
            <a:pPr indent="0" marL="0">
              <a:buNone/>
            </a:pPr>
            <a:r>
              <a:rPr lang="en-US" sz="1700" dirty="0">
                <a:solidFill>
                  <a:srgbClr val="9A9AA3"/>
                </a:solidFill>
                <a:latin typeface="Arial" pitchFamily="34" charset="0"/>
                <a:ea typeface="Arial" pitchFamily="34" charset="-122"/>
                <a:cs typeface="Arial" pitchFamily="34" charset="-120"/>
              </a:rPr>
              <a:t>Other AI testing tools need engine integration and run the expensive model on every frame. PlayerOne attaches to any window, trusts the engine console first, and only sends the big model a compressed digest.</a:t>
            </a:r>
            <a:endParaRPr lang="en-US" sz="1700" dirty="0"/>
          </a:p>
        </p:txBody>
      </p:sp>
      <p:sp>
        <p:nvSpPr>
          <p:cNvPr id="5" name="Shape 3"/>
          <p:cNvSpPr/>
          <p:nvPr/>
        </p:nvSpPr>
        <p:spPr>
          <a:xfrm>
            <a:off x="7406640" y="1920240"/>
            <a:ext cx="4251960" cy="3017520"/>
          </a:xfrm>
          <a:prstGeom prst="roundRect">
            <a:avLst>
              <a:gd name="adj" fmla="val 3636"/>
            </a:avLst>
          </a:prstGeom>
          <a:solidFill>
            <a:srgbClr val="1A0F14"/>
          </a:solidFill>
          <a:ln w="9525">
            <a:solidFill>
              <a:srgbClr val="2A2A31"/>
            </a:solidFill>
            <a:prstDash val="solid"/>
          </a:ln>
        </p:spPr>
      </p:sp>
      <p:sp>
        <p:nvSpPr>
          <p:cNvPr id="6" name="Text 4"/>
          <p:cNvSpPr txBox="1"/>
          <p:nvPr/>
        </p:nvSpPr>
        <p:spPr>
          <a:xfrm>
            <a:off x="7680960" y="2148840"/>
            <a:ext cx="3749040" cy="320040"/>
          </a:xfrm>
          <a:prstGeom prst="rect">
            <a:avLst/>
          </a:prstGeom>
          <a:noFill/>
          <a:ln/>
        </p:spPr>
        <p:txBody>
          <a:bodyPr wrap="square" lIns="0" tIns="0" rIns="0" bIns="0" rtlCol="0" anchor="t"/>
          <a:lstStyle/>
          <a:p>
            <a:pPr indent="0" marL="0">
              <a:buNone/>
            </a:pPr>
            <a:r>
              <a:rPr lang="en-US" sz="1200" dirty="0">
                <a:solidFill>
                  <a:srgbClr val="FF3D71"/>
                </a:solidFill>
                <a:latin typeface="Courier New" pitchFamily="34" charset="0"/>
                <a:ea typeface="Courier New" pitchFamily="34" charset="-122"/>
                <a:cs typeface="Courier New" pitchFamily="34" charset="-120"/>
              </a:rPr>
              <a:t>Next 30 days</a:t>
            </a:r>
            <a:endParaRPr lang="en-US" sz="1200" dirty="0"/>
          </a:p>
        </p:txBody>
      </p:sp>
      <p:sp>
        <p:nvSpPr>
          <p:cNvPr id="7" name="Text 5"/>
          <p:cNvSpPr txBox="1"/>
          <p:nvPr/>
        </p:nvSpPr>
        <p:spPr>
          <a:xfrm>
            <a:off x="7680960" y="2560320"/>
            <a:ext cx="3749040" cy="1188720"/>
          </a:xfrm>
          <a:prstGeom prst="rect">
            <a:avLst/>
          </a:prstGeom>
          <a:noFill/>
          <a:ln/>
        </p:spPr>
        <p:txBody>
          <a:bodyPr wrap="square" lIns="0" tIns="0" rIns="0" bIns="0" rtlCol="0" anchor="t"/>
          <a:lstStyle/>
          <a:p>
            <a:pPr indent="0" marL="0">
              <a:buNone/>
            </a:pPr>
            <a:r>
              <a:rPr lang="en-US" sz="1700" b="1" dirty="0">
                <a:solidFill>
                  <a:srgbClr val="F2F2F0"/>
                </a:solidFill>
                <a:latin typeface="Arial" pitchFamily="34" charset="0"/>
                <a:ea typeface="Arial" pitchFamily="34" charset="-122"/>
                <a:cs typeface="Arial" pitchFamily="34" charset="-120"/>
              </a:rPr>
              <a:t>Pilot with three Baku indie studios on their real games. Measure bugs found per build.</a:t>
            </a:r>
            <a:endParaRPr lang="en-US" sz="1700" dirty="0"/>
          </a:p>
        </p:txBody>
      </p:sp>
      <p:sp>
        <p:nvSpPr>
          <p:cNvPr id="8" name="Text 6"/>
          <p:cNvSpPr txBox="1"/>
          <p:nvPr/>
        </p:nvSpPr>
        <p:spPr>
          <a:xfrm>
            <a:off x="7680960" y="3840480"/>
            <a:ext cx="3749040" cy="914400"/>
          </a:xfrm>
          <a:prstGeom prst="rect">
            <a:avLst/>
          </a:prstGeom>
          <a:noFill/>
          <a:ln/>
        </p:spPr>
        <p:txBody>
          <a:bodyPr wrap="square" lIns="0" tIns="0" rIns="0" bIns="0" rtlCol="0" anchor="t"/>
          <a:lstStyle/>
          <a:p>
            <a:pPr indent="0" marL="0">
              <a:buNone/>
            </a:pPr>
            <a:r>
              <a:rPr lang="en-US" sz="1400" dirty="0">
                <a:solidFill>
                  <a:srgbClr val="9A9AA3"/>
                </a:solidFill>
                <a:latin typeface="Arial" pitchFamily="34" charset="0"/>
                <a:ea typeface="Arial" pitchFamily="34" charset="-122"/>
                <a:cs typeface="Arial" pitchFamily="34" charset="-120"/>
              </a:rPr>
              <a:t>Then: Unity and Unreal log probes on real projects, and signed builds.</a:t>
            </a:r>
            <a:endParaRPr lang="en-US" sz="1400" dirty="0"/>
          </a:p>
        </p:txBody>
      </p:sp>
      <p:sp>
        <p:nvSpPr>
          <p:cNvPr id="9" name="Text 7"/>
          <p:cNvSpPr txBox="1"/>
          <p:nvPr/>
        </p:nvSpPr>
        <p:spPr>
          <a:xfrm>
            <a:off x="548640" y="3931920"/>
            <a:ext cx="3657600" cy="365760"/>
          </a:xfrm>
          <a:prstGeom prst="rect">
            <a:avLst/>
          </a:prstGeom>
          <a:noFill/>
          <a:ln/>
        </p:spPr>
        <p:txBody>
          <a:bodyPr wrap="square" lIns="0" tIns="0" rIns="0" bIns="0" rtlCol="0" anchor="t"/>
          <a:lstStyle/>
          <a:p>
            <a:pPr indent="0" marL="0">
              <a:buNone/>
            </a:pPr>
            <a:r>
              <a:rPr lang="en-US" sz="1800" b="1" dirty="0">
                <a:solidFill>
                  <a:srgbClr val="F2F2F0"/>
                </a:solidFill>
                <a:latin typeface="Arial" pitchFamily="34" charset="0"/>
                <a:ea typeface="Arial" pitchFamily="34" charset="-122"/>
                <a:cs typeface="Arial" pitchFamily="34" charset="-120"/>
              </a:rPr>
              <a:t>Try it</a:t>
            </a:r>
            <a:endParaRPr lang="en-US" sz="1800" dirty="0"/>
          </a:p>
        </p:txBody>
      </p:sp>
      <p:sp>
        <p:nvSpPr>
          <p:cNvPr id="10" name="Text 8"/>
          <p:cNvSpPr txBox="1"/>
          <p:nvPr/>
        </p:nvSpPr>
        <p:spPr>
          <a:xfrm>
            <a:off x="548640" y="4389120"/>
            <a:ext cx="6400800" cy="822960"/>
          </a:xfrm>
          <a:prstGeom prst="rect">
            <a:avLst/>
          </a:prstGeom>
          <a:noFill/>
          <a:ln/>
        </p:spPr>
        <p:txBody>
          <a:bodyPr wrap="square" lIns="0" tIns="0" rIns="0" bIns="0" rtlCol="0" anchor="t"/>
          <a:lstStyle/>
          <a:p>
            <a:pPr indent="0" marL="0">
              <a:buNone/>
            </a:pPr>
            <a:r>
              <a:rPr lang="en-US" sz="1400" dirty="0">
                <a:solidFill>
                  <a:srgbClr val="9A9AA3"/>
                </a:solidFill>
                <a:latin typeface="Courier New" pitchFamily="34" charset="0"/>
                <a:ea typeface="Courier New" pitchFamily="34" charset="-122"/>
                <a:cs typeface="Courier New" pitchFamily="34" charset="-120"/>
              </a:rPr>
              <a:t>roaring-alfajores-8a941a.netlify.app</a:t>
            </a:r>
            <a:endParaRPr lang="en-US" sz="1400" dirty="0"/>
          </a:p>
          <a:p>
            <a:pPr indent="0" marL="0">
              <a:buNone/>
            </a:pPr>
            <a:r>
              <a:rPr lang="en-US" sz="1400" dirty="0">
                <a:solidFill>
                  <a:srgbClr val="9A9AA3"/>
                </a:solidFill>
                <a:latin typeface="Courier New" pitchFamily="34" charset="0"/>
                <a:ea typeface="Courier New" pitchFamily="34" charset="-122"/>
                <a:cs typeface="Courier New" pitchFamily="34" charset="-120"/>
              </a:rPr>
              <a:t>Download, pick your game, press Start.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5E66"/>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nodeType="withEffect">
                                  <p:stCondLst>
                                    <p:cond delay="12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10" presetClass="entr" presetSubtype="0" fill="hold" nodeType="withEffect">
                                  <p:stCondLst>
                                    <p:cond delay="2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36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4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6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7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84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96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108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PlayerOne pitch</dc:title>
  <dc:subject>PptxGenJS Presentation</dc:subject>
  <dc:creator>Team Cyber Tesla</dc:creator>
  <cp:lastModifiedBy>Team Cyber Tesla</cp:lastModifiedBy>
  <cp:revision>1</cp:revision>
  <dcterms:created xsi:type="dcterms:W3CDTF">2026-10-09T16:47:02Z</dcterms:created>
  <dcterms:modified xsi:type="dcterms:W3CDTF">2026-10-09T16:47:02Z</dcterms:modified>
</cp:coreProperties>
</file>